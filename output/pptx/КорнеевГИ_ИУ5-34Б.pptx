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1"/>
  </p:notesMasterIdLst>
  <p:sldIdLst>
    <p:sldId id="328" r:id="rId2"/>
    <p:sldId id="363" r:id="rId3"/>
    <p:sldId id="313" r:id="rId4"/>
    <p:sldId id="357" r:id="rId5"/>
    <p:sldId id="369" r:id="rId6"/>
    <p:sldId id="365" r:id="rId7"/>
    <p:sldId id="366" r:id="rId8"/>
    <p:sldId id="364" r:id="rId9"/>
    <p:sldId id="3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16"/>
    <p:restoredTop sz="87289"/>
  </p:normalViewPr>
  <p:slideViewPr>
    <p:cSldViewPr snapToGrid="0" snapToObjects="1">
      <p:cViewPr>
        <p:scale>
          <a:sx n="92" d="100"/>
          <a:sy n="92" d="100"/>
        </p:scale>
        <p:origin x="1248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C7C2F-7679-9645-A95A-8BA11CFD41B0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6F93D-5B65-F04E-B033-6CAAF4923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28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411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165A6-F294-31B7-6759-0B4B8BA4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1C1A7-8A2A-B35A-DA78-AE2D242A3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57156-A46C-1BE6-E96B-44B3BF4D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0C430-EB18-9660-286E-01158396D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924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233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735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3D40-3D63-9AC8-4726-AB3563D1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64EB40C-D885-20BB-44EB-19D011429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B6C52B9-38F4-5A52-2098-98F8BD9B4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BDC925-5C61-2ACC-B2CB-54BC39C34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427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6C68E-55BF-BA83-7D92-E3C11472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DE1603-B496-1E8B-EF3A-FA45CA7F5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48437C-9362-5CE1-7DA4-DF9148495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18F88C-9BC2-0BD5-C9C5-479817BC5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170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492D-4392-5B01-5F3A-45D9FF09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CD3F2DC-7C81-3B4D-ECB0-6328EEF52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BE24C38-250A-5C8D-CB27-322822416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D1F9FE-C610-9F9B-E329-0C48B4BBB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003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457200">
              <a:lnSpc>
                <a:spcPct val="115000"/>
              </a:lnSpc>
              <a:buFont typeface="+mj-lt"/>
              <a:buAutoNum type="arabicPeriod"/>
            </a:pPr>
            <a:endParaRPr lang="en-US" sz="1200" dirty="0">
              <a:solidFill>
                <a:srgbClr val="434343"/>
              </a:solidFill>
              <a:latin typeface="ALS Sector Regular"/>
              <a:ea typeface="ALS Sector Regular"/>
              <a:cs typeface="ALS Sector Regular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92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216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24D7-A5BF-B84D-98CC-55850CF570ED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66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ED183-9AEB-04E1-1030-33EF54C1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279B3-8393-6458-8BB7-7ADA4E5B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40523-4510-EF74-45EE-D22BB79A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0DD8-A8D6-7646-A8AA-3DDEA4F39B49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CB625F-5079-C90D-D8DF-CB7B6049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AA83B6-A404-5936-CC80-EC9668C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0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A509-87DC-767E-1832-C7CC363A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1884C6-3013-2458-0D68-A7902165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03E16-5D83-7B39-5E7A-9F01AC18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067A-F414-2F4E-A2DA-49CB515F10BF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CCE9B-95D8-9316-C686-67A2091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337C9-1926-3AED-110C-23634C2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50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2984E-EC5B-9060-A2BD-594795B0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29E23-65B3-BB1A-8057-C43A937A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BCA964-7517-C44F-4089-D73C8C9A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D9D7B3-96A9-1F31-FFD0-CED4EDBF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BD88-7001-804B-92EF-BB4497BF3C69}" type="datetime1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48DED3-81A7-C95A-C099-288A4C2E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EE3D20-8724-FA65-EF34-BC2B1AD6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564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5074E-293E-3A76-CAC2-6C589414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4E037-C4FA-D65F-DD15-3EB27E8E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D5DBB3-1C4A-34AF-0037-C7D147D16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D213FB-DBAC-11C6-C232-49F21D795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6A2461-D4A7-7991-4932-4BC08454C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03503A-4F0A-0B84-8B95-C5532231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9111C-86C9-AD47-800E-E8D17C0AC71A}" type="datetime1">
              <a:rPr lang="ru-RU" smtClean="0"/>
              <a:t>31.08.2026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2E2AA5-B04B-511D-3F64-47B0E937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CC1A9-C078-D857-B6FC-D2BE7A49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87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877D4-61ED-5225-4B61-2CBCB01D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96CAC9-68A8-6AA1-1060-7FB102AF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0EA2E-C846-7A49-B40C-715155C234E0}" type="datetime1">
              <a:rPr lang="ru-RU" smtClean="0"/>
              <a:t>31.08.2026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B4FA76-A58E-6266-E50F-6EE6783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4F895F-D327-014B-C3DF-00E76939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79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F18F6-0F02-E048-929D-8267711266EB}" type="datetime1">
              <a:rPr lang="ru-RU" smtClean="0"/>
              <a:t>31.08.2026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42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2561-52A2-5966-54B8-EEDDAEB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A797C-423C-AC6B-D4D5-A9A8E00A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E570D-2BFC-B862-DCD3-1F1B707F3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8C0C96-5EA3-6E15-1B27-D0789018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4B16F-3019-AD47-99D1-A041F16A6418}" type="datetime1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8A6578-8C97-AD3E-6C9F-9C52222A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18E633-B5FC-2FB9-CCBB-E727CBD4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531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DECCB-440D-BA77-A255-47BA24D5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D359C9-E73A-60DA-395D-0BA533E81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F5D950-A285-52A7-3A70-B9D48FD5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07823-E262-66FD-5E7C-73C23012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36A9A-3D16-C046-B51D-FFC5E164A706}" type="datetime1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9CEFE-2C72-7E64-ED66-D17D5B33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100F73-52A0-70AA-D241-932B2663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24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BACE5-BB05-C3A5-DD41-1733373E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DC787-2CB8-7D05-7248-858F71956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BAE0B-13F0-64F1-931E-30D57275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13784-9617-2447-B82E-EEE564EB6D35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82812-101B-7090-50AB-7588FBD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966155-AA2C-8FF1-D604-9C0D5E23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B54F11-0A84-1BDD-F8B1-4A6AB340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E85FF9-1A4D-2103-8E70-27524A4F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23D07-ACD4-B405-AC0F-BCC39006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D75B-4F5C-BD4D-B811-FE800E98D2E4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D1D5B-DEBA-3AA4-215A-3DDE7419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A6B24-E5D5-0134-836C-502AE8CB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81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B78F1-3679-7040-9756-62582D59F249}" type="datetime1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fld id="{1363E1C1-A028-4D4E-A8C8-9214D2A1B6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369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3" y="1726572"/>
            <a:ext cx="8250622" cy="324166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ALS Sector Regular"/>
              </a:rPr>
              <a:t>ОЦЕНКА ВОЗМОЖНОСТИ ВОССТАНОВЛЕНИЯ ДАННЫХ О ВЛАЖНОСТИ ПОЧВЫ С ИСПОЛЬЗОВАНИЕМ МОДЕЛИ СИСТЕМЫ «ПОЧВА–РАСТИТЕЛЬНОСТЬ» И СПУТНИКОВЫХ ПРОДУКТОВ</a:t>
            </a:r>
            <a:br>
              <a:rPr lang="en-US" sz="3200" b="1" dirty="0">
                <a:solidFill>
                  <a:schemeClr val="bg1"/>
                </a:solidFill>
                <a:latin typeface="ALS Sector Regular"/>
              </a:rPr>
            </a:br>
            <a:r>
              <a:rPr lang="en-US" sz="3200" b="1" dirty="0">
                <a:solidFill>
                  <a:schemeClr val="bg1"/>
                </a:solidFill>
                <a:latin typeface="ALS Sector Regular"/>
              </a:rPr>
              <a:t>SENTINEL</a:t>
            </a:r>
            <a:r>
              <a:rPr lang="ru-RU" sz="3200" b="1" dirty="0">
                <a:solidFill>
                  <a:schemeClr val="bg1"/>
                </a:solidFill>
                <a:latin typeface="ALS Sector Regular"/>
              </a:rPr>
              <a:t>-1 И </a:t>
            </a:r>
            <a:r>
              <a:rPr lang="en-US" sz="3200" b="1" dirty="0">
                <a:solidFill>
                  <a:schemeClr val="bg1"/>
                </a:solidFill>
                <a:latin typeface="ALS Sector Regular"/>
              </a:rPr>
              <a:t>SENTINEL</a:t>
            </a:r>
            <a:r>
              <a:rPr lang="ru-RU" sz="3200" b="1" dirty="0">
                <a:solidFill>
                  <a:schemeClr val="bg1"/>
                </a:solidFill>
                <a:latin typeface="ALS Sector Regular"/>
              </a:rPr>
              <a:t>-2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AC25DA0-FB7B-F5ED-1652-54BE4C90F804}"/>
              </a:ext>
            </a:extLst>
          </p:cNvPr>
          <p:cNvSpPr txBox="1">
            <a:spLocks/>
          </p:cNvSpPr>
          <p:nvPr/>
        </p:nvSpPr>
        <p:spPr>
          <a:xfrm>
            <a:off x="463433" y="378749"/>
            <a:ext cx="11211339" cy="105816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Московский государственный технический университет им. Н.Э. Баумана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j-ea"/>
              <a:cs typeface="ALS Sector Regular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Кафедра ИУ5 «Системы обработки информации и управления»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0C6BA-FBA0-88C3-0863-535DF9CF5220}"/>
              </a:ext>
            </a:extLst>
          </p:cNvPr>
          <p:cNvSpPr txBox="1"/>
          <p:nvPr/>
        </p:nvSpPr>
        <p:spPr>
          <a:xfrm>
            <a:off x="463433" y="5257898"/>
            <a:ext cx="80217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Выполнил: студент группы ИУ5-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4Б Корнеев Григорий Ильич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Bold" panose="02000000000000000000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Руководитель: преподаватель кафедры ИУ5 Колосов Максим Игоревич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Bold" panose="02000000000000000000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Москва,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9022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39511-A4E8-AAAF-25A6-A92B84E8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7E2041C-96D8-490B-E166-AC05EF57998B}"/>
              </a:ext>
            </a:extLst>
          </p:cNvPr>
          <p:cNvSpPr/>
          <p:nvPr/>
        </p:nvSpPr>
        <p:spPr>
          <a:xfrm>
            <a:off x="5092124" y="133349"/>
            <a:ext cx="6876096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02B22-0642-17B6-B9FF-99114E01DAC8}"/>
              </a:ext>
            </a:extLst>
          </p:cNvPr>
          <p:cNvSpPr txBox="1"/>
          <p:nvPr/>
        </p:nvSpPr>
        <p:spPr>
          <a:xfrm>
            <a:off x="5269230" y="-25431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D57B3DEF-55F9-A5C3-D9A1-6BC36CD3F377}"/>
              </a:ext>
            </a:extLst>
          </p:cNvPr>
          <p:cNvSpPr/>
          <p:nvPr/>
        </p:nvSpPr>
        <p:spPr>
          <a:xfrm>
            <a:off x="-1757692" y="-56171"/>
            <a:ext cx="8612060" cy="6970339"/>
          </a:xfrm>
          <a:prstGeom prst="parallelogram">
            <a:avLst/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DAFC3-5938-0A57-E8D3-83CFF0AB137B}"/>
              </a:ext>
            </a:extLst>
          </p:cNvPr>
          <p:cNvSpPr txBox="1"/>
          <p:nvPr/>
        </p:nvSpPr>
        <p:spPr>
          <a:xfrm>
            <a:off x="11803812" y="6467651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EC1552-28EF-B22F-5BEE-0B7B589688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0" t="5798" r="5075" b="4696"/>
          <a:stretch>
            <a:fillRect/>
          </a:stretch>
        </p:blipFill>
        <p:spPr>
          <a:xfrm>
            <a:off x="6854368" y="572191"/>
            <a:ext cx="4663469" cy="5713618"/>
          </a:xfrm>
          <a:prstGeom prst="roundRect">
            <a:avLst>
              <a:gd name="adj" fmla="val 2927"/>
            </a:avLst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AD7B97F1-38EB-C768-9364-1ADCDD685609}"/>
              </a:ext>
            </a:extLst>
          </p:cNvPr>
          <p:cNvSpPr>
            <a:spLocks noGrp="1"/>
          </p:cNvSpPr>
          <p:nvPr/>
        </p:nvSpPr>
        <p:spPr>
          <a:xfrm>
            <a:off x="6939806" y="474702"/>
            <a:ext cx="127635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8D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buNone/>
              <a:defRPr sz="975" b="1">
                <a:solidFill>
                  <a:srgbClr val="1856B6"/>
                </a:solidFill>
              </a:defRPr>
            </a:pPr>
            <a:r>
              <a:rPr sz="975" b="1" dirty="0">
                <a:solidFill>
                  <a:srgbClr val="1856B6"/>
                </a:solidFill>
              </a:rPr>
              <a:t>Sentinel-1</a:t>
            </a:r>
          </a:p>
          <a:p>
            <a:pPr algn="ctr">
              <a:buNone/>
              <a:defRPr sz="975" b="1">
                <a:solidFill>
                  <a:srgbClr val="1856B6"/>
                </a:solidFill>
              </a:defRPr>
            </a:pPr>
            <a:r>
              <a:rPr sz="975" b="1" dirty="0">
                <a:solidFill>
                  <a:srgbClr val="1856B6"/>
                </a:solidFill>
              </a:rPr>
              <a:t>VV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EEB519AE-4B4F-DB90-100A-0834BC5313B6}"/>
              </a:ext>
            </a:extLst>
          </p:cNvPr>
          <p:cNvSpPr>
            <a:spLocks noGrp="1"/>
          </p:cNvSpPr>
          <p:nvPr/>
        </p:nvSpPr>
        <p:spPr>
          <a:xfrm>
            <a:off x="10269775" y="457233"/>
            <a:ext cx="13335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8D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buNone/>
              <a:defRPr sz="975" b="1">
                <a:solidFill>
                  <a:srgbClr val="1856B6"/>
                </a:solidFill>
              </a:defRPr>
            </a:pPr>
            <a:r>
              <a:rPr sz="975" b="1" dirty="0">
                <a:solidFill>
                  <a:srgbClr val="1856B6"/>
                </a:solidFill>
              </a:rPr>
              <a:t>Sentinel-2</a:t>
            </a:r>
          </a:p>
          <a:p>
            <a:pPr algn="ctr">
              <a:buNone/>
              <a:defRPr sz="975" b="1">
                <a:solidFill>
                  <a:srgbClr val="1856B6"/>
                </a:solidFill>
              </a:defRPr>
            </a:pPr>
            <a:r>
              <a:rPr sz="975" b="1" dirty="0">
                <a:solidFill>
                  <a:srgbClr val="1856B6"/>
                </a:solidFill>
              </a:rPr>
              <a:t>FCOVER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E3D8130-C421-3C24-FD96-8369DE815909}"/>
              </a:ext>
            </a:extLst>
          </p:cNvPr>
          <p:cNvSpPr>
            <a:spLocks noGrp="1"/>
          </p:cNvSpPr>
          <p:nvPr/>
        </p:nvSpPr>
        <p:spPr>
          <a:xfrm>
            <a:off x="8424215" y="4772025"/>
            <a:ext cx="180975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B8D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buNone/>
              <a:defRPr sz="975" b="1">
                <a:solidFill>
                  <a:srgbClr val="1856B6"/>
                </a:solidFill>
              </a:defRPr>
            </a:pPr>
            <a:r>
              <a:rPr sz="975" b="1" dirty="0" err="1">
                <a:solidFill>
                  <a:srgbClr val="1856B6"/>
                </a:solidFill>
              </a:rPr>
              <a:t>Расчётная</a:t>
            </a:r>
            <a:r>
              <a:rPr sz="975" b="1" dirty="0">
                <a:solidFill>
                  <a:srgbClr val="1856B6"/>
                </a:solidFill>
              </a:rPr>
              <a:t> </a:t>
            </a:r>
            <a:r>
              <a:rPr sz="975" b="1" dirty="0" err="1">
                <a:solidFill>
                  <a:srgbClr val="1856B6"/>
                </a:solidFill>
              </a:rPr>
              <a:t>влажность</a:t>
            </a:r>
            <a:endParaRPr sz="975" b="1" dirty="0">
              <a:solidFill>
                <a:srgbClr val="1856B6"/>
              </a:solidFill>
            </a:endParaRPr>
          </a:p>
          <a:p>
            <a:pPr algn="ctr">
              <a:buNone/>
              <a:defRPr sz="975" b="1">
                <a:solidFill>
                  <a:srgbClr val="1856B6"/>
                </a:solidFill>
              </a:defRPr>
            </a:pPr>
            <a:r>
              <a:rPr sz="975" b="1" dirty="0">
                <a:solidFill>
                  <a:srgbClr val="1856B6"/>
                </a:solidFill>
              </a:rPr>
              <a:t>0–10 </a:t>
            </a:r>
            <a:r>
              <a:rPr sz="975" b="1" dirty="0" err="1">
                <a:solidFill>
                  <a:srgbClr val="1856B6"/>
                </a:solidFill>
              </a:rPr>
              <a:t>см</a:t>
            </a:r>
            <a:endParaRPr sz="975" b="1" dirty="0">
              <a:solidFill>
                <a:srgbClr val="1856B6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361FBB6-1C28-6D32-D26B-0E048FF2C0BB}"/>
              </a:ext>
            </a:extLst>
          </p:cNvPr>
          <p:cNvSpPr>
            <a:spLocks noGrp="1"/>
          </p:cNvSpPr>
          <p:nvPr/>
        </p:nvSpPr>
        <p:spPr>
          <a:xfrm>
            <a:off x="7566965" y="6262131"/>
            <a:ext cx="35242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B8D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buNone/>
              <a:defRPr sz="975" b="1">
                <a:solidFill>
                  <a:srgbClr val="1856B6"/>
                </a:solidFill>
              </a:defRPr>
            </a:pPr>
            <a:r>
              <a:rPr sz="975" b="1">
                <a:solidFill>
                  <a:srgbClr val="1856B6"/>
                </a:solidFill>
              </a:rPr>
              <a:t>VV — не прямое измерение влажности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96BD3F9-FAC4-BD00-30F2-42854424F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218" y="269631"/>
            <a:ext cx="3796904" cy="605121"/>
          </a:xfrm>
        </p:spPr>
        <p:txBody>
          <a:bodyPr anchor="ctr">
            <a:noAutofit/>
          </a:bodyPr>
          <a:lstStyle/>
          <a:p>
            <a:pPr algn="l"/>
            <a:r>
              <a:rPr lang="ru-RU" sz="3600" b="1" dirty="0">
                <a:solidFill>
                  <a:schemeClr val="bg1"/>
                </a:solidFill>
                <a:latin typeface="ALS Sector Regular"/>
                <a:ea typeface="ALS Sector Regular"/>
                <a:cs typeface="ALS Sector Regular"/>
              </a:rPr>
              <a:t>Проблема</a:t>
            </a:r>
            <a:r>
              <a:rPr lang="ru-RU" sz="36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:</a:t>
            </a:r>
          </a:p>
        </p:txBody>
      </p:sp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85392A26-75B2-D64A-2603-324A11F67F5A}"/>
              </a:ext>
            </a:extLst>
          </p:cNvPr>
          <p:cNvSpPr txBox="1">
            <a:spLocks/>
          </p:cNvSpPr>
          <p:nvPr/>
        </p:nvSpPr>
        <p:spPr>
          <a:xfrm>
            <a:off x="223780" y="874752"/>
            <a:ext cx="4868344" cy="57136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2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В сельском хозяйстве и орошении часто возникает потребность в оценке влажности без прямых измерений, поскольку проведение наземных замеров трудоемко и затратно. Существуют методы радарного зондирования влажности с использованием спутника SENTINEL</a:t>
            </a:r>
            <a:r>
              <a:rPr lang="en-US" sz="2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, </a:t>
            </a:r>
            <a:r>
              <a:rPr lang="ru-RU" sz="2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однако интерпретация полученных сигналов не всегда однозначна и может не отражать реальную влажность.</a:t>
            </a:r>
            <a:endParaRPr lang="ru-RU" sz="2000" dirty="0">
              <a:solidFill>
                <a:schemeClr val="bg1"/>
              </a:solidFill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8704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393153D-F319-70C3-EC49-722E0764447E}"/>
              </a:ext>
            </a:extLst>
          </p:cNvPr>
          <p:cNvGrpSpPr/>
          <p:nvPr/>
        </p:nvGrpSpPr>
        <p:grpSpPr>
          <a:xfrm>
            <a:off x="4424018" y="150283"/>
            <a:ext cx="7544203" cy="6591300"/>
            <a:chOff x="5474880" y="152400"/>
            <a:chExt cx="7544203" cy="65913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F96FA-98E6-E2E9-FEA8-646100BD33D2}"/>
                </a:ext>
              </a:extLst>
            </p:cNvPr>
            <p:cNvSpPr/>
            <p:nvPr/>
          </p:nvSpPr>
          <p:spPr>
            <a:xfrm>
              <a:off x="5474880" y="152400"/>
              <a:ext cx="7544203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14" name="Подзаголовок 2">
              <a:extLst>
                <a:ext uri="{FF2B5EF4-FFF2-40B4-BE49-F238E27FC236}">
                  <a16:creationId xmlns:a16="http://schemas.microsoft.com/office/drawing/2014/main" id="{AE51AFE0-E498-130B-EF2F-85CF4E006214}"/>
                </a:ext>
              </a:extLst>
            </p:cNvPr>
            <p:cNvSpPr txBox="1">
              <a:spLocks/>
            </p:cNvSpPr>
            <p:nvPr/>
          </p:nvSpPr>
          <p:spPr>
            <a:xfrm>
              <a:off x="5548334" y="1214157"/>
              <a:ext cx="7397293" cy="537632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ru-RU" sz="3600" b="1" dirty="0">
                  <a:solidFill>
                    <a:srgbClr val="004EA1"/>
                  </a:solidFill>
                  <a:latin typeface="ALS Sector Regular" pitchFamily="2" charset="0"/>
                  <a:cs typeface="ALS Sector Regular" pitchFamily="2" charset="0"/>
                </a:rPr>
                <a:t>С помощью SENTINEL-2 можно настроить модель системы «почва - растения», с помощью которой рассчитать влажность почвы. Ожидается, что расчетная влажность верхнего слоя тесно связана с данными SENTINEL-1.</a:t>
              </a:r>
            </a:p>
          </p:txBody>
        </p:sp>
      </p:grp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-8678" y="-16934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218" y="598776"/>
            <a:ext cx="3796904" cy="605121"/>
          </a:xfrm>
        </p:spPr>
        <p:txBody>
          <a:bodyPr anchor="ctr">
            <a:noAutofit/>
          </a:bodyPr>
          <a:lstStyle/>
          <a:p>
            <a:pPr algn="l"/>
            <a:r>
              <a:rPr lang="ru-RU" sz="36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Цель: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223780" y="1477108"/>
            <a:ext cx="3682012" cy="4479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ru-RU" sz="2800" b="1" dirty="0">
                <a:solidFill>
                  <a:schemeClr val="bg1"/>
                </a:solidFill>
                <a:latin typeface="ALS Sector Regular" pitchFamily="2" charset="0"/>
                <a:ea typeface="+mj-ea"/>
                <a:cs typeface="ALS Sector Regular" pitchFamily="2" charset="0"/>
              </a:rPr>
              <a:t>Оценка возможности восстановления влажности почвы на основе данных </a:t>
            </a:r>
            <a:r>
              <a:rPr lang="ru-RU" sz="28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SENTINEL-1/2</a:t>
            </a:r>
            <a:r>
              <a:rPr lang="ru-RU" sz="2800" b="1" dirty="0">
                <a:solidFill>
                  <a:schemeClr val="bg1"/>
                </a:solidFill>
                <a:latin typeface="ALS Sector Regular" pitchFamily="2" charset="0"/>
                <a:ea typeface="+mj-ea"/>
                <a:cs typeface="ALS Sector Regular" pitchFamily="2" charset="0"/>
              </a:rPr>
              <a:t> и модели системы «почва-растения».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BF8CF00-13B1-B346-65FC-B2BB66B26537}"/>
              </a:ext>
            </a:extLst>
          </p:cNvPr>
          <p:cNvSpPr txBox="1">
            <a:spLocks/>
          </p:cNvSpPr>
          <p:nvPr/>
        </p:nvSpPr>
        <p:spPr>
          <a:xfrm>
            <a:off x="4570928" y="606919"/>
            <a:ext cx="3796904" cy="6051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rgbClr val="004EA0"/>
                </a:solidFill>
                <a:latin typeface="ALS Sector Regular" pitchFamily="2" charset="0"/>
                <a:cs typeface="ALS Sector Regular" pitchFamily="2" charset="0"/>
              </a:rPr>
              <a:t>Гипотеза: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A611C-2A38-AC76-C61C-515525E2A014}"/>
              </a:ext>
            </a:extLst>
          </p:cNvPr>
          <p:cNvSpPr txBox="1"/>
          <p:nvPr/>
        </p:nvSpPr>
        <p:spPr>
          <a:xfrm>
            <a:off x="11803812" y="6467651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727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E5C486A2-04A2-FE8E-F9BF-1BAAD01B0E36}"/>
              </a:ext>
            </a:extLst>
          </p:cNvPr>
          <p:cNvSpPr txBox="1"/>
          <p:nvPr/>
        </p:nvSpPr>
        <p:spPr>
          <a:xfrm>
            <a:off x="0" y="-26074"/>
            <a:ext cx="12192000" cy="637097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algn="ctr"/>
            <a:r>
              <a:rPr lang="ru-RU" sz="3600" b="1" spc="0" dirty="0">
                <a:solidFill>
                  <a:schemeClr val="bg1"/>
                </a:solidFill>
              </a:rPr>
              <a:t>Архитектура информационной системы</a:t>
            </a:r>
            <a:endParaRPr lang="ru-RU" sz="3600" spc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9B5E6-6EDA-3B02-335D-1D0726857984}"/>
              </a:ext>
            </a:extLst>
          </p:cNvPr>
          <p:cNvSpPr txBox="1"/>
          <p:nvPr/>
        </p:nvSpPr>
        <p:spPr>
          <a:xfrm>
            <a:off x="11803812" y="6467651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2E989624-764B-3631-0F22-E3916F76474A}"/>
              </a:ext>
            </a:extLst>
          </p:cNvPr>
          <p:cNvSpPr/>
          <p:nvPr/>
        </p:nvSpPr>
        <p:spPr>
          <a:xfrm>
            <a:off x="1" y="1200757"/>
            <a:ext cx="12191997" cy="5657243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F43FE89-5297-B7D4-FD3E-60282ECDB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2" b="1806"/>
          <a:stretch>
            <a:fillRect/>
          </a:stretch>
        </p:blipFill>
        <p:spPr>
          <a:xfrm>
            <a:off x="787701" y="1266588"/>
            <a:ext cx="10616598" cy="54771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572947-CF79-A9C4-548C-0D9408088F48}"/>
              </a:ext>
            </a:extLst>
          </p:cNvPr>
          <p:cNvSpPr txBox="1"/>
          <p:nvPr/>
        </p:nvSpPr>
        <p:spPr>
          <a:xfrm>
            <a:off x="11688690" y="6392469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00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026E-CE4B-3322-F307-A74AD0EB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125B2D0C-D0DF-9D06-6F4D-B61835878E96}"/>
              </a:ext>
            </a:extLst>
          </p:cNvPr>
          <p:cNvSpPr txBox="1"/>
          <p:nvPr/>
        </p:nvSpPr>
        <p:spPr>
          <a:xfrm>
            <a:off x="0" y="-26074"/>
            <a:ext cx="12192000" cy="637097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algn="ctr"/>
            <a:r>
              <a:rPr lang="ru-RU" sz="3600" b="1" spc="0" dirty="0">
                <a:solidFill>
                  <a:schemeClr val="bg1"/>
                </a:solidFill>
              </a:rPr>
              <a:t>Пример данных с SENTINEL-2 </a:t>
            </a:r>
            <a:endParaRPr lang="ru-RU" sz="3600" spc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2E569-A714-6295-20B9-CF78D6F8A04E}"/>
              </a:ext>
            </a:extLst>
          </p:cNvPr>
          <p:cNvSpPr txBox="1"/>
          <p:nvPr/>
        </p:nvSpPr>
        <p:spPr>
          <a:xfrm>
            <a:off x="11803812" y="6467651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246DC8E-D444-5256-C52C-BF1C6FCBD0CA}"/>
              </a:ext>
            </a:extLst>
          </p:cNvPr>
          <p:cNvSpPr/>
          <p:nvPr/>
        </p:nvSpPr>
        <p:spPr>
          <a:xfrm>
            <a:off x="1" y="611023"/>
            <a:ext cx="12191997" cy="6246977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E265C4-0355-2BB5-593A-63BFB3A07827}"/>
              </a:ext>
            </a:extLst>
          </p:cNvPr>
          <p:cNvSpPr txBox="1"/>
          <p:nvPr/>
        </p:nvSpPr>
        <p:spPr>
          <a:xfrm>
            <a:off x="11688690" y="6392469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1B54DD-32C3-BB46-B5D2-6081D579E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146" y="695106"/>
            <a:ext cx="7772400" cy="601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6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06D4-C422-7684-D157-47548EED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07E9DAFF-D86D-79E1-F8DD-B1781D055233}"/>
              </a:ext>
            </a:extLst>
          </p:cNvPr>
          <p:cNvSpPr/>
          <p:nvPr/>
        </p:nvSpPr>
        <p:spPr>
          <a:xfrm>
            <a:off x="1" y="1200757"/>
            <a:ext cx="12191997" cy="5657243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3122E656-9992-D7BA-1E27-E84963F80407}"/>
              </a:ext>
            </a:extLst>
          </p:cNvPr>
          <p:cNvSpPr txBox="1"/>
          <p:nvPr/>
        </p:nvSpPr>
        <p:spPr>
          <a:xfrm>
            <a:off x="-27420" y="-73438"/>
            <a:ext cx="12219418" cy="1274195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algn="ctr"/>
            <a:r>
              <a:rPr lang="ru-RU" sz="3600" b="1" spc="0" dirty="0">
                <a:solidFill>
                  <a:schemeClr val="bg1"/>
                </a:solidFill>
              </a:rPr>
              <a:t>Калибровка модели «почва — растения», </a:t>
            </a:r>
            <a:br>
              <a:rPr lang="ru-RU" sz="3600" b="1" spc="0" dirty="0">
                <a:solidFill>
                  <a:schemeClr val="bg1"/>
                </a:solidFill>
              </a:rPr>
            </a:br>
            <a:r>
              <a:rPr lang="ru-RU" sz="3600" b="1" spc="0" dirty="0">
                <a:solidFill>
                  <a:schemeClr val="bg1"/>
                </a:solidFill>
              </a:rPr>
              <a:t>по данным SENTINEL-2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339A2-197C-65FE-B80D-DF76AA20BCDD}"/>
              </a:ext>
            </a:extLst>
          </p:cNvPr>
          <p:cNvSpPr txBox="1"/>
          <p:nvPr/>
        </p:nvSpPr>
        <p:spPr>
          <a:xfrm>
            <a:off x="11688690" y="6392469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046B7CE-D2BA-2E3C-CE09-98B1310AD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" b="51002"/>
          <a:stretch>
            <a:fillRect/>
          </a:stretch>
        </p:blipFill>
        <p:spPr>
          <a:xfrm>
            <a:off x="221159" y="1478729"/>
            <a:ext cx="11749680" cy="463576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210D5F-BD0A-49A9-4067-CCC3A7011A1E}"/>
              </a:ext>
            </a:extLst>
          </p:cNvPr>
          <p:cNvSpPr/>
          <p:nvPr/>
        </p:nvSpPr>
        <p:spPr>
          <a:xfrm>
            <a:off x="3347357" y="2130879"/>
            <a:ext cx="734786" cy="220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397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9840-6EB4-6444-5B1F-FA3B6D98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5804D35B-81AA-BD13-7424-88D4EBDE4FDF}"/>
              </a:ext>
            </a:extLst>
          </p:cNvPr>
          <p:cNvSpPr/>
          <p:nvPr/>
        </p:nvSpPr>
        <p:spPr>
          <a:xfrm>
            <a:off x="2" y="1266587"/>
            <a:ext cx="12191998" cy="5591413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A2239B82-6633-1BC4-7ECC-64F8692782C6}"/>
              </a:ext>
            </a:extLst>
          </p:cNvPr>
          <p:cNvSpPr txBox="1"/>
          <p:nvPr/>
        </p:nvSpPr>
        <p:spPr>
          <a:xfrm>
            <a:off x="-27418" y="-26075"/>
            <a:ext cx="12219418" cy="1274195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algn="ctr"/>
            <a:r>
              <a:rPr lang="ru-RU" sz="3600" b="1" spc="0" dirty="0">
                <a:solidFill>
                  <a:schemeClr val="bg1"/>
                </a:solidFill>
              </a:rPr>
              <a:t>График влажности поверхностного слоя</a:t>
            </a:r>
            <a:br>
              <a:rPr lang="ru-RU" sz="3600" b="1" spc="0" dirty="0">
                <a:solidFill>
                  <a:schemeClr val="bg1"/>
                </a:solidFill>
              </a:rPr>
            </a:br>
            <a:r>
              <a:rPr lang="ru-RU" sz="3600" b="1" spc="0" dirty="0">
                <a:solidFill>
                  <a:schemeClr val="bg1"/>
                </a:solidFill>
              </a:rPr>
              <a:t>по модели и </a:t>
            </a:r>
            <a:r>
              <a:rPr lang="en-US" sz="3600" b="1" spc="0" dirty="0">
                <a:solidFill>
                  <a:schemeClr val="bg1"/>
                </a:solidFill>
              </a:rPr>
              <a:t>Sentinel-1</a:t>
            </a:r>
            <a:endParaRPr lang="ru-RU" sz="3600" b="1" spc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BB433-5458-9E3F-5BBE-5AE95839D185}"/>
              </a:ext>
            </a:extLst>
          </p:cNvPr>
          <p:cNvSpPr txBox="1"/>
          <p:nvPr/>
        </p:nvSpPr>
        <p:spPr>
          <a:xfrm>
            <a:off x="11688690" y="6392469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FEB86C-26DE-6105-A7DA-D9AE5F129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391" b="1041"/>
          <a:stretch>
            <a:fillRect/>
          </a:stretch>
        </p:blipFill>
        <p:spPr>
          <a:xfrm>
            <a:off x="338520" y="1539468"/>
            <a:ext cx="11350170" cy="45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CE76-5CED-D21D-10ED-CEFC01C6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66B7AED5-E0FC-A858-BC6F-5687F57BC428}"/>
              </a:ext>
            </a:extLst>
          </p:cNvPr>
          <p:cNvSpPr/>
          <p:nvPr/>
        </p:nvSpPr>
        <p:spPr>
          <a:xfrm rot="5400000">
            <a:off x="5623701" y="-5623714"/>
            <a:ext cx="944581" cy="12192015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Google Shape;463;g14739c8fea3_0_278">
            <a:extLst>
              <a:ext uri="{FF2B5EF4-FFF2-40B4-BE49-F238E27FC236}">
                <a16:creationId xmlns:a16="http://schemas.microsoft.com/office/drawing/2014/main" id="{FBF6BF2D-D13D-9700-1828-144052F6BE9A}"/>
              </a:ext>
            </a:extLst>
          </p:cNvPr>
          <p:cNvSpPr txBox="1"/>
          <p:nvPr/>
        </p:nvSpPr>
        <p:spPr>
          <a:xfrm>
            <a:off x="-16" y="157011"/>
            <a:ext cx="12192000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-RU" sz="36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Выводы и дальнейшие этапы работы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5CF9A4-D1ED-6C44-510E-297F3B73762B}"/>
              </a:ext>
            </a:extLst>
          </p:cNvPr>
          <p:cNvSpPr txBox="1"/>
          <p:nvPr/>
        </p:nvSpPr>
        <p:spPr>
          <a:xfrm>
            <a:off x="0" y="1055255"/>
            <a:ext cx="4624387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sz="2000" b="1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Выводы:</a:t>
            </a:r>
          </a:p>
        </p:txBody>
      </p:sp>
      <p:cxnSp>
        <p:nvCxnSpPr>
          <p:cNvPr id="3" name="Google Shape;422;g14739c8fea3_0_168">
            <a:extLst>
              <a:ext uri="{FF2B5EF4-FFF2-40B4-BE49-F238E27FC236}">
                <a16:creationId xmlns:a16="http://schemas.microsoft.com/office/drawing/2014/main" id="{0C0847E8-98E7-69C7-5507-C51C483E445C}"/>
              </a:ext>
            </a:extLst>
          </p:cNvPr>
          <p:cNvCxnSpPr>
            <a:cxnSpLocks/>
          </p:cNvCxnSpPr>
          <p:nvPr/>
        </p:nvCxnSpPr>
        <p:spPr>
          <a:xfrm flipV="1">
            <a:off x="4624391" y="1048930"/>
            <a:ext cx="0" cy="5386601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84;p10">
            <a:extLst>
              <a:ext uri="{FF2B5EF4-FFF2-40B4-BE49-F238E27FC236}">
                <a16:creationId xmlns:a16="http://schemas.microsoft.com/office/drawing/2014/main" id="{C2CD64B9-16B9-49E5-E8F5-B51446F3883F}"/>
              </a:ext>
            </a:extLst>
          </p:cNvPr>
          <p:cNvSpPr/>
          <p:nvPr/>
        </p:nvSpPr>
        <p:spPr>
          <a:xfrm>
            <a:off x="214424" y="1487771"/>
            <a:ext cx="3976569" cy="5087199"/>
          </a:xfrm>
          <a:prstGeom prst="roundRect">
            <a:avLst>
              <a:gd name="adj" fmla="val 8823"/>
            </a:avLst>
          </a:prstGeom>
          <a:solidFill>
            <a:schemeClr val="bg1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 marL="457200" lvl="0" indent="-457200">
              <a:lnSpc>
                <a:spcPct val="115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Совместный учёт влаги и </a:t>
            </a:r>
            <a:r>
              <a:rPr lang="en-US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FCOVER </a:t>
            </a: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улучшает прогноз </a:t>
            </a:r>
            <a:r>
              <a:rPr lang="en-US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VV </a:t>
            </a: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на новых полях</a:t>
            </a:r>
          </a:p>
          <a:p>
            <a:pPr marL="457200" indent="-457200">
              <a:lnSpc>
                <a:spcPct val="115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Sentinel-1</a:t>
            </a: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 показывает влагу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D83C9-5CCB-783E-C28C-A539D5CE7C59}"/>
              </a:ext>
            </a:extLst>
          </p:cNvPr>
          <p:cNvSpPr txBox="1"/>
          <p:nvPr/>
        </p:nvSpPr>
        <p:spPr>
          <a:xfrm>
            <a:off x="11803812" y="6467651"/>
            <a:ext cx="38818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>
                <a:solidFill>
                  <a:srgbClr val="004EA0"/>
                </a:solidFill>
                <a:latin typeface="ALS Sector Bold" panose="02000000000000000000" pitchFamily="2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F5F969-6F6D-4316-D37C-88D1280DE295}"/>
              </a:ext>
            </a:extLst>
          </p:cNvPr>
          <p:cNvSpPr txBox="1"/>
          <p:nvPr/>
        </p:nvSpPr>
        <p:spPr>
          <a:xfrm>
            <a:off x="4624387" y="1117624"/>
            <a:ext cx="7567613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sz="2000" b="1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Дальнейшие этапы работы</a:t>
            </a:r>
          </a:p>
        </p:txBody>
      </p:sp>
      <p:sp>
        <p:nvSpPr>
          <p:cNvPr id="5" name="Google Shape;84;p10">
            <a:extLst>
              <a:ext uri="{FF2B5EF4-FFF2-40B4-BE49-F238E27FC236}">
                <a16:creationId xmlns:a16="http://schemas.microsoft.com/office/drawing/2014/main" id="{4189A948-7072-80A4-11BD-F32182D23D2D}"/>
              </a:ext>
            </a:extLst>
          </p:cNvPr>
          <p:cNvSpPr/>
          <p:nvPr/>
        </p:nvSpPr>
        <p:spPr>
          <a:xfrm>
            <a:off x="4752117" y="1487771"/>
            <a:ext cx="7225460" cy="5087199"/>
          </a:xfrm>
          <a:prstGeom prst="roundRect">
            <a:avLst>
              <a:gd name="adj" fmla="val 8823"/>
            </a:avLst>
          </a:prstGeom>
          <a:solidFill>
            <a:schemeClr val="bg1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 marL="457200" lvl="0" indent="-457200">
              <a:lnSpc>
                <a:spcPct val="115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Провести независимую проверку абсолютной влажности почвы по наземным измерениям. </a:t>
            </a:r>
          </a:p>
          <a:p>
            <a:pPr marL="457200" lvl="0" indent="-457200">
              <a:lnSpc>
                <a:spcPct val="115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Оценить возможность физически обусловленной реконструкции распределения влажности по глубине до 1 м. </a:t>
            </a:r>
          </a:p>
          <a:p>
            <a:pPr marL="457200" lvl="0" indent="-457200">
              <a:lnSpc>
                <a:spcPct val="115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Расширить последовательную схему: </a:t>
            </a:r>
            <a:r>
              <a:rPr lang="en-US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Sentinel‑2 → </a:t>
            </a: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калибровка растительного блока модели → расчётная влажность → </a:t>
            </a:r>
            <a:r>
              <a:rPr lang="en-US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Sentinel‑1. </a:t>
            </a:r>
          </a:p>
          <a:p>
            <a:pPr marL="457200" lvl="0" indent="-457200">
              <a:lnSpc>
                <a:spcPct val="115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Проверить переносимость полученных зависимостей на новые поля и в другие периоды вегетации. </a:t>
            </a:r>
          </a:p>
          <a:p>
            <a:pPr marL="457200" lvl="0" indent="-457200">
              <a:lnSpc>
                <a:spcPct val="115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Уточнить роль </a:t>
            </a:r>
            <a:r>
              <a:rPr lang="en-US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FCOVER </a:t>
            </a:r>
            <a:r>
              <a:rPr lang="ru-RU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и взаимодействия растительности с влажностью верхнего слоя почвы при интерпретации </a:t>
            </a:r>
            <a:r>
              <a:rPr lang="en-US" sz="2000" dirty="0">
                <a:solidFill>
                  <a:srgbClr val="434343"/>
                </a:solidFill>
                <a:latin typeface="ALS Sector Regular"/>
                <a:ea typeface="ALS Sector Regular"/>
                <a:cs typeface="ALS Sector Regular"/>
              </a:rPr>
              <a:t>VV Sentinel‑1. </a:t>
            </a:r>
          </a:p>
        </p:txBody>
      </p:sp>
    </p:spTree>
    <p:extLst>
      <p:ext uri="{BB962C8B-B14F-4D97-AF65-F5344CB8AC3E}">
        <p14:creationId xmlns:p14="http://schemas.microsoft.com/office/powerpoint/2010/main" val="185391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51DB9-4E29-B378-A53E-9E4A2A23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B871094-94F7-EC3E-ED08-BB5E6AB12A50}"/>
              </a:ext>
            </a:extLst>
          </p:cNvPr>
          <p:cNvSpPr txBox="1">
            <a:spLocks/>
          </p:cNvSpPr>
          <p:nvPr/>
        </p:nvSpPr>
        <p:spPr>
          <a:xfrm>
            <a:off x="463433" y="378749"/>
            <a:ext cx="11211339" cy="105816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Московский государственный технический университет им. Н.Э. Баумана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j-ea"/>
              <a:cs typeface="ALS Sector Regular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Кафедра ИУ5 «Системы обработки информации и управления»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AAE4F-2A6C-5262-5729-D4349102B77D}"/>
              </a:ext>
            </a:extLst>
          </p:cNvPr>
          <p:cNvSpPr txBox="1"/>
          <p:nvPr/>
        </p:nvSpPr>
        <p:spPr>
          <a:xfrm>
            <a:off x="463433" y="5131428"/>
            <a:ext cx="80217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Выполнил: студент группы ИУ5-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4Б Корнеев Григорий Ильич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Bold" panose="02000000000000000000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Руководитель: преподаватель кафедры ИУ5 Колосов Максим Игоревич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Bold" panose="02000000000000000000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Bold" panose="02000000000000000000" pitchFamily="2" charset="0"/>
                <a:ea typeface="+mn-ea"/>
                <a:cs typeface="Times New Roman" panose="02020603050405020304" pitchFamily="18" charset="0"/>
              </a:rPr>
              <a:t>Москва, 2026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1D0CDA2-BC24-8B58-F8B3-63EAF6E6F0D8}"/>
              </a:ext>
            </a:extLst>
          </p:cNvPr>
          <p:cNvSpPr txBox="1">
            <a:spLocks/>
          </p:cNvSpPr>
          <p:nvPr/>
        </p:nvSpPr>
        <p:spPr>
          <a:xfrm>
            <a:off x="463436" y="2792052"/>
            <a:ext cx="8585971" cy="1130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Спасибо за внимание!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475919-3835-81A0-0FBE-B35191CE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63E1C1-A028-4D4E-A8C8-9214D2A1B6C2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LS Sector Regular" pitchFamily="2" charset="0"/>
                <a:ea typeface="+mn-ea"/>
                <a:cs typeface="ALS Sector Regular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75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369</Words>
  <Application>Microsoft Macintosh PowerPoint</Application>
  <DocSecurity>0</DocSecurity>
  <PresentationFormat>Широкоэкранный</PresentationFormat>
  <Paragraphs>64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ALS Sector Bold</vt:lpstr>
      <vt:lpstr>ALS Sector Regular</vt:lpstr>
      <vt:lpstr>Aptos</vt:lpstr>
      <vt:lpstr>Arial</vt:lpstr>
      <vt:lpstr>Calibri</vt:lpstr>
      <vt:lpstr>Calibri Light</vt:lpstr>
      <vt:lpstr>Times New Roman</vt:lpstr>
      <vt:lpstr>1_Тема Office</vt:lpstr>
      <vt:lpstr>Презентация PowerPoint</vt:lpstr>
      <vt:lpstr>Проблема:</vt:lpstr>
      <vt:lpstr>Цель: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12</cp:revision>
  <dcterms:created xsi:type="dcterms:W3CDTF">2026-08-31T16:21:57Z</dcterms:created>
  <dcterms:modified xsi:type="dcterms:W3CDTF">2026-08-31T20:31:29Z</dcterms:modified>
</cp:coreProperties>
</file>