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a97972b11146f3" /><Relationship Type="http://schemas.openxmlformats.org/officeDocument/2006/relationships/extended-properties" Target="/docProps/app.xml" Id="R3c57a7e58dbc4fb4" /><Relationship Type="http://schemas.openxmlformats.org/officeDocument/2006/relationships/officeDocument" Target="/ppt/presentation.xml" Id="Redf10c02416d448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3d05bee03ba4262"/>
  </p:sldMasterIdLst>
  <p:notesMasterIdLst>
    <p:notesMasterId xmlns:r="http://schemas.openxmlformats.org/officeDocument/2006/relationships" r:id="R3cf0377982354520"/>
  </p:notesMasterIdLst>
  <p:sldIdLst>
    <p:sldId xmlns:r="http://schemas.openxmlformats.org/officeDocument/2006/relationships" id="256" r:id="R887c8f5da84a4529"/>
    <p:sldId xmlns:r="http://schemas.openxmlformats.org/officeDocument/2006/relationships" id="257" r:id="R4a6d4821e8414a1a"/>
    <p:sldId xmlns:r="http://schemas.openxmlformats.org/officeDocument/2006/relationships" id="258" r:id="Rec82f70782f049b8"/>
    <p:sldId xmlns:r="http://schemas.openxmlformats.org/officeDocument/2006/relationships" id="259" r:id="Raec1e18fc1cb413f"/>
    <p:sldId xmlns:r="http://schemas.openxmlformats.org/officeDocument/2006/relationships" id="260" r:id="R68a5c250483b4773"/>
    <p:sldId xmlns:r="http://schemas.openxmlformats.org/officeDocument/2006/relationships" id="261" r:id="Rafbe836443e04957"/>
    <p:sldId xmlns:r="http://schemas.openxmlformats.org/officeDocument/2006/relationships" id="262" r:id="Rb0b11b29c2b64d5b"/>
  </p:sldIdLst>
  <p:sldSz cx="12192000" cy="6858000"/>
  <p:notesSz cx="6858000" cy="9144000"/>
  <p:embeddedFontLst>
    <p:embeddedFont>
      <p:font typeface="ALS Sector Regular"/>
      <p:regular xmlns:r="http://schemas.openxmlformats.org/officeDocument/2006/relationships" r:id="Ra030c447baeb4a5c"/>
    </p:embeddedFont>
    <p:embeddedFont>
      <p:font typeface="Calibri"/>
      <p:regular xmlns:r="http://schemas.openxmlformats.org/officeDocument/2006/relationships" r:id="Rb4cc71b114f34e54"/>
      <p:bold xmlns:r="http://schemas.openxmlformats.org/officeDocument/2006/relationships" r:id="Ref3ded277e464ba7"/>
      <p:italic xmlns:r="http://schemas.openxmlformats.org/officeDocument/2006/relationships" r:id="R3340d033a1f846c9"/>
      <p:boldItalic xmlns:r="http://schemas.openxmlformats.org/officeDocument/2006/relationships" r:id="Red85ac70168d4664"/>
    </p:embeddedFont>
    <p:embeddedFont>
      <p:font typeface="Calibri Light"/>
      <p:regular xmlns:r="http://schemas.openxmlformats.org/officeDocument/2006/relationships" r:id="R4fd8c74c8ebb4a4c"/>
      <p:italic xmlns:r="http://schemas.openxmlformats.org/officeDocument/2006/relationships" r:id="Rec5b53710bc4487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997404ed55437f" /><Relationship Type="http://schemas.openxmlformats.org/officeDocument/2006/relationships/slideMaster" Target="/ppt/slideMasters/slideMaster1.xml" Id="R53d05bee03ba4262" /><Relationship Type="http://schemas.openxmlformats.org/officeDocument/2006/relationships/notesMaster" Target="/ppt/notesMasters/notesMaster1.xml" Id="R3cf0377982354520" /><Relationship Type="http://schemas.openxmlformats.org/officeDocument/2006/relationships/presProps" Target="/ppt/presProps.xml" Id="Rb2a549c9bdad4892" /><Relationship Type="http://schemas.openxmlformats.org/officeDocument/2006/relationships/viewProps" Target="/ppt/viewProps.xml" Id="R23ae907bc113426c" /><Relationship Type="http://schemas.openxmlformats.org/officeDocument/2006/relationships/tableStyles" Target="/ppt/tableStyles.xml" Id="R19ceb24d193b46c2" /><Relationship Type="http://schemas.openxmlformats.org/officeDocument/2006/relationships/font" Target="/ppt/fonts/font.dat" Id="Ra030c447baeb4a5c" /><Relationship Type="http://schemas.openxmlformats.org/officeDocument/2006/relationships/font" Target="/ppt/fonts/font2.dat" Id="Rb4cc71b114f34e54" /><Relationship Type="http://schemas.openxmlformats.org/officeDocument/2006/relationships/font" Target="/ppt/fonts/font3.dat" Id="Ref3ded277e464ba7" /><Relationship Type="http://schemas.openxmlformats.org/officeDocument/2006/relationships/font" Target="/ppt/fonts/font4.dat" Id="R3340d033a1f846c9" /><Relationship Type="http://schemas.openxmlformats.org/officeDocument/2006/relationships/font" Target="/ppt/fonts/font5.dat" Id="Red85ac70168d4664" /><Relationship Type="http://schemas.openxmlformats.org/officeDocument/2006/relationships/font" Target="/ppt/fonts/font6.dat" Id="R4fd8c74c8ebb4a4c" /><Relationship Type="http://schemas.openxmlformats.org/officeDocument/2006/relationships/font" Target="/ppt/fonts/font7.dat" Id="Rec5b53710bc44876" /><Relationship Type="http://schemas.openxmlformats.org/officeDocument/2006/relationships/slide" Target="/ppt/slides/slide1.xml" Id="R887c8f5da84a4529" /><Relationship Type="http://schemas.openxmlformats.org/officeDocument/2006/relationships/slide" Target="/ppt/slides/slide2.xml" Id="R4a6d4821e8414a1a" /><Relationship Type="http://schemas.openxmlformats.org/officeDocument/2006/relationships/slide" Target="/ppt/slides/slide3.xml" Id="Rec82f70782f049b8" /><Relationship Type="http://schemas.openxmlformats.org/officeDocument/2006/relationships/slide" Target="/ppt/slides/slide4.xml" Id="Raec1e18fc1cb413f" /><Relationship Type="http://schemas.openxmlformats.org/officeDocument/2006/relationships/slide" Target="/ppt/slides/slide5.xml" Id="R68a5c250483b4773" /><Relationship Type="http://schemas.openxmlformats.org/officeDocument/2006/relationships/slide" Target="/ppt/slides/slide6.xml" Id="Rafbe836443e04957" /><Relationship Type="http://schemas.openxmlformats.org/officeDocument/2006/relationships/slide" Target="/ppt/slides/slide7.xml" Id="Rb0b11b29c2b64d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7fee8cce914d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272c4d4a6f450d" /><Relationship Type="http://schemas.openxmlformats.org/officeDocument/2006/relationships/notesMaster" Target="/ppt/notesMasters/notesMaster1.xml" Id="Rc651b325d3ce44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c234594b584bb1" /><Relationship Type="http://schemas.openxmlformats.org/officeDocument/2006/relationships/notesMaster" Target="/ppt/notesMasters/notesMaster1.xml" Id="R082f8ed4beb342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481e0301464959" /><Relationship Type="http://schemas.openxmlformats.org/officeDocument/2006/relationships/notesMaster" Target="/ppt/notesMasters/notesMaster1.xml" Id="R1baf5ab400c74f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4e2024c8284142" /><Relationship Type="http://schemas.openxmlformats.org/officeDocument/2006/relationships/notesMaster" Target="/ppt/notesMasters/notesMaster1.xml" Id="Rdc1074c49b434b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b293288d894efb" /><Relationship Type="http://schemas.openxmlformats.org/officeDocument/2006/relationships/notesMaster" Target="/ppt/notesMasters/notesMaster1.xml" Id="Ra2b7094e8e4b45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bb2cb8599447f4" /><Relationship Type="http://schemas.openxmlformats.org/officeDocument/2006/relationships/notesMaster" Target="/ppt/notesMasters/notesMaster1.xml" Id="Rac3d5934c3234b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2b8b44e884411b" /><Relationship Type="http://schemas.openxmlformats.org/officeDocument/2006/relationships/notesMaster" Target="/ppt/notesMasters/notesMaster1.xml" Id="Rcd45d77ced9140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тезисы: «Оценка возможности восстановления данных о влажности почвы…»,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Открытие: задача — проверить, согласуется ли независимый Sentinel-1 с расчётным приповерхностным водным состоянием.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Финальные тезисы, введение и обсуждение.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Ключевой тезис: мы не выдаём VV за прямое измерение влажности. Проверяем, даёт ли он независимое подтверждение расчётной динамики.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«Материалы и методы»; sp_full_experiment_protocol.json, schema version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Поля разделены на шесть групп. Качество оценивается только на полях, которые не участвовали в обучении.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sp_full_experiment_protocol.json: sentinel2_fcover и kornix_fcover_lag.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Лаг относится к визуальному сопоставлению кривых покрытия: модельная кривая показана на 12 суток правее. Это не изменяет исходные даты в рядах.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sentinel1_validation, cross_validated_predictive_gain.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Главный результат — не абсолютное R², а устойчивый прирост M3 на полях, которые модель не видела. Прирост M3–M1: 0,078, bootstrap 95% CI 0,035…0,128.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observability_analysis.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Эти показатели — дополнительная диагностика. Основное доказательство — межполевая проверка M1–M3 на предыдущем слайде.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заключение.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Закрытие: работа подтверждает необходимую предпосылку дальнейшей реконструкции. Для утверждений об абсолютной влажности и глубине до 1 м потребуются независимые наземные измерения.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306148b6d344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b45d29e664a0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90b0036df4f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2cdb685f234b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8c694e5e974ff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2b92eb2a37424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6679aec1e4428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bec487a5b34cf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5cb55b911c494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fce48c4dd04cd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9bf070d3fb47ef" /></Relationships>
</file>

<file path=ppt/slideLayouts/slideLayout1.xml><?xml version="1.0" encoding="utf-8"?>
<p:sldLayout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Дата 6">
            <a:extLst xmlns:a="http://schemas.openxmlformats.org/drawingml/2006/main"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8" name="Нижний колонтитул 7">
            <a:extLst xmlns:a="http://schemas.openxmlformats.org/drawingml/2006/main"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Дата 2">
            <a:extLst xmlns:a="http://schemas.openxmlformats.org/drawingml/2006/main"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4" name="Нижний колонтитул 3">
            <a:extLst xmlns:a="http://schemas.openxmlformats.org/drawingml/2006/main"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Номер слайда 4">
            <a:extLst xmlns:a="http://schemas.openxmlformats.org/drawingml/2006/main"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Дата 1">
            <a:extLst xmlns:a="http://schemas.openxmlformats.org/drawingml/2006/main"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3" name="Нижний колонтитул 2">
            <a:extLst xmlns:a="http://schemas.openxmlformats.org/drawingml/2006/main"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Номер слайда 3">
            <a:extLst xmlns:a="http://schemas.openxmlformats.org/drawingml/2006/main"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Вертикальный 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2e138ce1644581" /><Relationship Type="http://schemas.openxmlformats.org/officeDocument/2006/relationships/slideLayout" Target="/ppt/slideLayouts/slideLayout1.xml" Id="R9c50659dccc64416" /><Relationship Type="http://schemas.openxmlformats.org/officeDocument/2006/relationships/slideLayout" Target="/ppt/slideLayouts/slideLayout2.xml" Id="R21ea0c2372ce49c0" /><Relationship Type="http://schemas.openxmlformats.org/officeDocument/2006/relationships/slideLayout" Target="/ppt/slideLayouts/slideLayout3.xml" Id="Raae77b1482914455" /><Relationship Type="http://schemas.openxmlformats.org/officeDocument/2006/relationships/slideLayout" Target="/ppt/slideLayouts/slideLayout4.xml" Id="R9c1ad5bec4f94788" /><Relationship Type="http://schemas.openxmlformats.org/officeDocument/2006/relationships/slideLayout" Target="/ppt/slideLayouts/slideLayout5.xml" Id="Rc71277f1f52849c3" /><Relationship Type="http://schemas.openxmlformats.org/officeDocument/2006/relationships/slideLayout" Target="/ppt/slideLayouts/slideLayout6.xml" Id="Rda0dfef7683d43d6" /><Relationship Type="http://schemas.openxmlformats.org/officeDocument/2006/relationships/slideLayout" Target="/ppt/slideLayouts/slideLayout7.xml" Id="R5bd313abbc234fdc" /><Relationship Type="http://schemas.openxmlformats.org/officeDocument/2006/relationships/slideLayout" Target="/ppt/slideLayouts/slideLayout8.xml" Id="Rbbc8aa07cb6346a6" /><Relationship Type="http://schemas.openxmlformats.org/officeDocument/2006/relationships/slideLayout" Target="/ppt/slideLayouts/slideLayout9.xml" Id="Rcb9d02ff607b417c" /><Relationship Type="http://schemas.openxmlformats.org/officeDocument/2006/relationships/slideLayout" Target="/ppt/slideLayouts/slideLayout10.xml" Id="R313443fccbf14c4c" /><Relationship Type="http://schemas.openxmlformats.org/officeDocument/2006/relationships/slideLayout" Target="/ppt/slideLayouts/slideLayout11.xml" Id="R6f6e0baa1e564bd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1440" y="3246437"/>
            <a:ext cx="478536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50659dccc64416"/>
    <p:sldLayoutId xmlns:r="http://schemas.openxmlformats.org/officeDocument/2006/relationships" id="2147483650" r:id="R21ea0c2372ce49c0"/>
    <p:sldLayoutId xmlns:r="http://schemas.openxmlformats.org/officeDocument/2006/relationships" id="2147483651" r:id="Raae77b1482914455"/>
    <p:sldLayoutId xmlns:r="http://schemas.openxmlformats.org/officeDocument/2006/relationships" id="2147483652" r:id="R9c1ad5bec4f94788"/>
    <p:sldLayoutId xmlns:r="http://schemas.openxmlformats.org/officeDocument/2006/relationships" id="2147483653" r:id="Rc71277f1f52849c3"/>
    <p:sldLayoutId xmlns:r="http://schemas.openxmlformats.org/officeDocument/2006/relationships" id="2147483654" r:id="Rda0dfef7683d43d6"/>
    <p:sldLayoutId xmlns:r="http://schemas.openxmlformats.org/officeDocument/2006/relationships" id="2147483655" r:id="R5bd313abbc234fdc"/>
    <p:sldLayoutId xmlns:r="http://schemas.openxmlformats.org/officeDocument/2006/relationships" id="2147483656" r:id="Rbbc8aa07cb6346a6"/>
    <p:sldLayoutId xmlns:r="http://schemas.openxmlformats.org/officeDocument/2006/relationships" id="2147483657" r:id="Rcb9d02ff607b417c"/>
    <p:sldLayoutId xmlns:r="http://schemas.openxmlformats.org/officeDocument/2006/relationships" id="2147483658" r:id="R313443fccbf14c4c"/>
    <p:sldLayoutId xmlns:r="http://schemas.openxmlformats.org/officeDocument/2006/relationships" id="2147483659" r:id="R6f6e0baa1e564bd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82a31351f2447b" /><Relationship Type="http://schemas.openxmlformats.org/officeDocument/2006/relationships/image" Target="/ppt/media/image.jpeg" Id="R55d7ec27d38844af" /><Relationship Type="http://schemas.openxmlformats.org/officeDocument/2006/relationships/notesSlide" Target="/ppt/notesSlides/notesSlide1.xml" Id="R90cdf3f459d149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456aa77034ad2" /><Relationship Type="http://schemas.openxmlformats.org/officeDocument/2006/relationships/notesSlide" Target="/ppt/notesSlides/notesSlide2.xml" Id="R3ec906f36e2e44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19fa0497df47b8" /><Relationship Type="http://schemas.openxmlformats.org/officeDocument/2006/relationships/notesSlide" Target="/ppt/notesSlides/notesSlide3.xml" Id="Reb58de6199744d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6ae0bfa311494c" /><Relationship Type="http://schemas.openxmlformats.org/officeDocument/2006/relationships/notesSlide" Target="/ppt/notesSlides/notesSlide4.xml" Id="R47c54f87d91f42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c7c248cb8b4ab4" /><Relationship Type="http://schemas.openxmlformats.org/officeDocument/2006/relationships/chart" Target="/ppt/slides/charts/chart1.xml" Id="Raf24a878a4c147fd" /><Relationship Type="http://schemas.openxmlformats.org/officeDocument/2006/relationships/notesSlide" Target="/ppt/notesSlides/notesSlide5.xml" Id="R0439bd35b39242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c314bcc6af4a5c" /><Relationship Type="http://schemas.openxmlformats.org/officeDocument/2006/relationships/notesSlide" Target="/ppt/notesSlides/notesSlide6.xml" Id="Rf10a4c4c696348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8fbed863ab46f9" /><Relationship Type="http://schemas.openxmlformats.org/officeDocument/2006/relationships/notesSlide" Target="/ppt/notesSlides/notesSlide7.xml" Id="Rf74a93aed3fa4056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R²out</a:t>
            </a:r>
          </a:p>
        </c:rich>
      </c:tx>
      <c:overlay val="0"/>
    </c:title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 xmlns:a="http://schemas.openxmlformats.org/drawingml/2006/main">
              <a:srgbClr val="2176E5"/>
            </a:solidFill>
            <a:ln xmlns:a="http://schemas.openxmlformats.org/drawingml/2006/main">
              <a:noFill/>
            </a:ln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000" b="0" i="0" u="none">
                    <a:solidFill>
                      <a:srgbClr val="434343"/>
                    </a:solidFill>
                    <a:latin typeface="ALS Sector Regular"/>
                    <a:ea typeface="ALS Sector Regular"/>
                    <a:cs typeface="ALS Sector Regula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M1</c:v>
                </c:pt>
                <c:pt idx="1">
                  <c:v>M2</c:v>
                </c:pt>
                <c:pt idx="2">
                  <c:v>M3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</c:v>
                </c:pt>
                <c:pt idx="1">
                  <c:v>0.113</c:v>
                </c:pt>
                <c:pt idx="2">
                  <c:v>0.137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D355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231040959"/>
        <c:axId val="230925407"/>
      </c:barChart>
      <c:catAx>
        <c:axId val="23104095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noFill/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pPr>
          </a:p>
        </c:txPr>
        <c:crossAx val="230925407"/>
        <c:crosses val="autoZero"/>
        <c:lblOffset val="100"/>
      </c:catAx>
      <c:valAx>
        <c:axId val="230925407"/>
        <c:scaling>
          <c:orientation val="minMax"/>
          <c:max val="0.16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4F5"/>
              </a:solidFill>
              <a:prstDash val="solid"/>
            </a:ln>
          </c:spPr>
        </c:majorGridlines>
        <c:numFmt formatCode="0.00" sourceLinked="1"/>
        <c:majorTickMark val="out"/>
        <c:minorTickMark val="none"/>
        <c:tickLblPos val="nextTo"/>
        <c:crossAx val="231040959"/>
        <c:crosses val="autoZero"/>
        <c:crossBetween val="between"/>
        <c:majorUnit val="0.04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5d7ec27d38844af">
            <a:lum/>
          </a:blip>
          <a:srcRect l="0" t="0" r="0" b="0"/>
          <a:tile tx="0" ty="0" sx="100000" sy="100000" flip="none" algn="tl"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4" y="2863768"/>
            <a:ext cx="11211339" cy="11304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141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Оценка влажности почвы</a:t>
            </a:r>
          </a:p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по модели и данным Sentinel-1/2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6" y="6079140"/>
            <a:ext cx="5316372" cy="40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Clr>
                <a:srgbClr val="176DEA"/>
              </a:buClr>
              <a:buNone/>
            </a:pPr>
            <a:r>
              <a:rPr sz="2000">
                <a:solidFill>
                  <a:schemeClr val="bg1">
                    <a:alpha val="5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2026</a:t>
            </a:r>
          </a:p>
        </p:txBody>
      </p:sp>
      <p:sp>
        <p:nvSpPr>
          <p:cNvPr id="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AC25DA0-FB7B-F5ED-1652-54BE4C90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3" y="378750"/>
            <a:ext cx="11211339" cy="653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МГТУ им. Н.Э. Баумана · кафедра ИУ5</a:t>
            </a:r>
          </a:p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Корнеев Григорий Ильич · ИУ5-34Б</a:t>
            </a:r>
          </a:p>
        </p:txBody>
      </p:sp>
    </p:spTree>
    <p:extLst>
      <p:ext uri="{BB962C8B-B14F-4D97-AF65-F5344CB8AC3E}">
        <p14:creationId xmlns:p14="http://schemas.microsoft.com/office/powerpoint/2010/main" val="41346015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DCF96FA-98E6-E2E9-FEA8-646100BD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6944" y="133350"/>
            <a:ext cx="6782401" cy="659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E51AFE0-E498-130B-EF2F-85CF4E00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1527" y="2995630"/>
            <a:ext cx="5390784" cy="8898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Проверяем не калибровку влажности,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а независимую согласованность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расчётной динамики и радара</a:t>
            </a:r>
          </a:p>
        </p:txBody>
      </p:sp>
      <p:sp>
        <p:nvSpPr>
          <p:cNvPr id="8" name="Параллелограмм 7">
            <a:extLst xmlns:a="http://schemas.openxmlformats.org/drawingml/2006/main"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45122" y="-887968"/>
            <a:ext cx="9386048" cy="81153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05459" y="1032693"/>
            <a:ext cx="4384451" cy="1749826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Проблема и гипотеза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230" y="-2543175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cxnSp>
        <p:nvCxnSpPr>
          <p:cNvPr id="34" name="Google Shape;55;p2"/>
          <p:cNvCxnSpPr/>
          <p:nvPr/>
        </p:nvCxnSpPr>
        <p:spPr>
          <a:xfrm xmlns:a="http://schemas.openxmlformats.org/drawingml/2006/main" rot="0" flipH="0" flipV="0">
            <a:off x="762431" y="3245219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0D2B7FCE-1825-555F-2617-815091C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2979762"/>
            <a:ext cx="2816400" cy="530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VV смешивает два фактора</a:t>
            </a:r>
          </a:p>
        </p:txBody>
      </p:sp>
      <p:cxnSp>
        <p:nvCxnSpPr>
          <p:cNvPr id="36" name="Google Shape;57;p2"/>
          <p:cNvCxnSpPr/>
          <p:nvPr/>
        </p:nvCxnSpPr>
        <p:spPr>
          <a:xfrm xmlns:a="http://schemas.openxmlformats.org/drawingml/2006/main" rot="0" flipH="0" flipV="0">
            <a:off x="762431" y="442944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" name="Google Shape;58;p2">
            <a:extLst xmlns:a="http://schemas.openxmlformats.org/drawingml/2006/main">
              <a:ext uri="{FF2B5EF4-FFF2-40B4-BE49-F238E27FC236}">
                <a16:creationId xmlns:a16="http://schemas.microsoft.com/office/drawing/2014/main" id="{60E977CA-9238-0EE4-5E5E-DD69ED3C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4287097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FCOVER выделяет растительность</a:t>
            </a:r>
          </a:p>
        </p:txBody>
      </p:sp>
      <p:cxnSp>
        <p:nvCxnSpPr>
          <p:cNvPr id="38" name="Google Shape;59;p2"/>
          <p:cNvCxnSpPr/>
          <p:nvPr/>
        </p:nvCxnSpPr>
        <p:spPr>
          <a:xfrm xmlns:a="http://schemas.openxmlformats.org/drawingml/2006/main" rot="0" flipH="0" flipV="0">
            <a:off x="755091" y="502155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60;p2">
            <a:extLst xmlns:a="http://schemas.openxmlformats.org/drawingml/2006/main">
              <a:ext uri="{FF2B5EF4-FFF2-40B4-BE49-F238E27FC236}">
                <a16:creationId xmlns:a16="http://schemas.microsoft.com/office/drawing/2014/main" id="{4772CD6F-99B4-268C-5DCF-BFA1F107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4879209"/>
            <a:ext cx="2816400" cy="2846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Гипотеза: VV отражает θ0–10</a:t>
            </a:r>
          </a:p>
        </p:txBody>
      </p:sp>
      <p:cxnSp>
        <p:nvCxnSpPr>
          <p:cNvPr id="40" name="Google Shape;55;p2"/>
          <p:cNvCxnSpPr/>
          <p:nvPr/>
        </p:nvCxnSpPr>
        <p:spPr>
          <a:xfrm xmlns:a="http://schemas.openxmlformats.org/drawingml/2006/main" rot="0" flipH="0" flipV="0">
            <a:off x="755091" y="3837331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E74035EC-4385-4B06-B945-D912BB10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3694985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Прямая влажность недоступна</a:t>
            </a:r>
          </a:p>
        </p:txBody>
      </p:sp>
    </p:spTree>
    <p:extLst>
      <p:ext uri="{BB962C8B-B14F-4D97-AF65-F5344CB8AC3E}">
        <p14:creationId xmlns:p14="http://schemas.microsoft.com/office/powerpoint/2010/main" val="1855870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FB7721B3-9A7B-E718-ACD8-013893BB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Данные и дизайн эксперимента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69C84B-131E-ACC0-F989-95E2794D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738488"/>
            <a:ext cx="2692352" cy="625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36 полей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2 118 совпадений «поле–дата Sentinel-1»</a:t>
            </a:r>
          </a:p>
        </p:txBody>
      </p:sp>
      <p:sp>
        <p:nvSpPr>
          <p:cNvPr id="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FFFB774-4DEE-3FB3-D502-F89B5431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Исходные данные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9800EDF-F699-A274-D060-836790F7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FCOVER →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расчёт покрытия модели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4D0ECA-0A72-9D4F-D064-321DF8D8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Растительный блок</a:t>
            </a:r>
          </a:p>
        </p:txBody>
      </p:sp>
      <p:cxnSp>
        <p:nvCxnSpPr>
          <p:cNvPr id="36" name="Google Shape;422;g14739c8fea3_0_168"/>
          <p:cNvCxnSpPr/>
          <p:nvPr/>
        </p:nvCxnSpPr>
        <p:spPr>
          <a:xfrm xmlns:a="http://schemas.openxmlformats.org/drawingml/2006/main" flipV="1">
            <a:off x="8538572" y="1407790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A4346-1888-3C94-0B69-7AF09ABE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738488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Суточная модель →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влажность слоя 0–10 см</a:t>
            </a:r>
          </a:p>
        </p:txBody>
      </p:sp>
      <p:sp>
        <p:nvSpPr>
          <p:cNvPr id="21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8F9A23EF-E6AB-D44C-5C29-7E2D100C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Водный блок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982D219-1D16-A9C7-6B34-20A576E1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VV, дБ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6 межполевых фолдов по 6 полей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6D796B6-19A4-DBB2-22E9-A442DC2D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Независимая проверка</a:t>
            </a:r>
          </a:p>
        </p:txBody>
      </p:sp>
    </p:spTree>
    <p:extLst>
      <p:ext uri="{BB962C8B-B14F-4D97-AF65-F5344CB8AC3E}">
        <p14:creationId xmlns:p14="http://schemas.microsoft.com/office/powerpoint/2010/main" val="3596481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около 12 суток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кривая модели сдвигается вправо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Лаг покрытия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 = 0,763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 = 0,583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Связь рядов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FCOVER ограничивает модель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Проверка выполнена до Sentinel-1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фиксирует сезонную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динамику растительности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Смысл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r = 0,944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34 из 36 связей положительные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Внутри полей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Результат: растение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отделено от влаги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Зачем это нужно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12 сут.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настройка растительного блока,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не проверка влажности по Sentinel-1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Граница интерпретации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FCOVER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0FD12-6A0E-8B85-311F-0F9621A4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55820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M1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FCOVER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2,684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" name="Овал 3">
            <a:extLst xmlns:a="http://schemas.openxmlformats.org/drawingml/2006/main">
              <a:ext uri="{FF2B5EF4-FFF2-40B4-BE49-F238E27FC236}">
                <a16:creationId xmlns:a16="http://schemas.microsoft.com/office/drawing/2014/main" id="{31495578-F3DD-A011-D3D4-C5FD9E1E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07823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70AF87-6CD6-3F44-D789-1E32CFB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95680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M1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B3CF77-CC33-1C7C-6CCE-4B71AFC2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8824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M2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влага 0–10 см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2,608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Овал 8">
            <a:extLst xmlns:a="http://schemas.openxmlformats.org/drawingml/2006/main">
              <a:ext uri="{FF2B5EF4-FFF2-40B4-BE49-F238E27FC236}">
                <a16:creationId xmlns:a16="http://schemas.microsoft.com/office/drawing/2014/main" id="{94317713-92DE-EC3A-F1FF-1261C6A9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90827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3B319D-5473-D7AD-BB49-94846B97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78684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M2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ADDE4D-1C81-2D41-4CF3-B5D8B6D1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8926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M3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влага + FCOVER +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взаимодействие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0D6D032B-DF19-EBF3-4F74-DBD573F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80929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14A6E9-4E33-FA4D-BA39-BCE029A4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68786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6F3296C-CE4E-A878-8B2B-6C428D0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8924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базовый вариант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7" name="Овал 16">
            <a:extLst xmlns:a="http://schemas.openxmlformats.org/drawingml/2006/main">
              <a:ext uri="{FF2B5EF4-FFF2-40B4-BE49-F238E27FC236}">
                <a16:creationId xmlns:a16="http://schemas.microsoft.com/office/drawing/2014/main" id="{768B73E2-18F2-26BB-4667-E998AEC9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0927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3B056AA-B5AA-FDB5-2812-051A3AFE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8784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5752A-6D8E-9FD7-D614-9B463421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1928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связь с влагой есть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Овал 20">
            <a:extLst xmlns:a="http://schemas.openxmlformats.org/drawingml/2006/main">
              <a:ext uri="{FF2B5EF4-FFF2-40B4-BE49-F238E27FC236}">
                <a16:creationId xmlns:a16="http://schemas.microsoft.com/office/drawing/2014/main" id="{4B60E7E6-9A5D-0D53-BCA1-241EE21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03931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915193B-D685-DD44-8711-6C14D491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91788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E80CC8C-FA0E-7411-6400-FA1E482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42030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лучший результат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5" name="Овал 24">
            <a:extLst xmlns:a="http://schemas.openxmlformats.org/drawingml/2006/main">
              <a:ext uri="{FF2B5EF4-FFF2-40B4-BE49-F238E27FC236}">
                <a16:creationId xmlns:a16="http://schemas.microsoft.com/office/drawing/2014/main" id="{0421990D-8A21-2DF4-259A-B2D3FF8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94033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0E3AF4-BFF4-EDB0-9137-03E5DCF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1890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cxnSp>
        <p:nvCxnSpPr>
          <p:cNvPr id="73" name="Google Shape;422;g14739c8fea3_0_168"/>
          <p:cNvCxnSpPr/>
          <p:nvPr/>
        </p:nvCxnSpPr>
        <p:spPr>
          <a:xfrm xmlns:a="http://schemas.openxmlformats.org/drawingml/2006/main" flipV="1">
            <a:off x="4154831" y="1693962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5797E42A-677A-3D4C-A281-ECB6C99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Совместная модель лучше описывает VV на новых полях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B651CE5-447E-0AE2-49C8-CC9FF23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21" y="1822951"/>
            <a:ext cx="6273052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Bef>
                <a:spcPts val="200"/>
              </a:spcBef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Межполевая проверка: R²out</a:t>
            </a:r>
            <a:endParaRPr sz="14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graphicFrame>
        <p:nvGraphicFramePr>
          <p:cNvPr id="76" name="Chart 3"/>
          <p:cNvGraphicFramePr/>
          <p:nvPr/>
        </p:nvGraphicFramePr>
        <p:xfrm>
          <a:off xmlns:a="http://schemas.openxmlformats.org/drawingml/2006/main" x="283921" y="2376280"/>
          <a:ext xmlns:a="http://schemas.openxmlformats.org/drawingml/2006/main" cx="2501666" cy="347899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24a878a4c147fd"/>
          </a:graphicData>
        </a:graphic>
      </p:graphicFrame>
    </p:spTree>
    <p:extLst>
      <p:ext uri="{BB962C8B-B14F-4D97-AF65-F5344CB8AC3E}">
        <p14:creationId xmlns:p14="http://schemas.microsoft.com/office/powerpoint/2010/main" val="2671973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Spearman ΔVV–Δθ = 0,195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совпадение направления 57,6 %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Изменения во времени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Spearman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= 0,504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Ранговая связь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Полевые признаки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318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VV различает состояния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P(VVвлажно &gt; VVсухо)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= 0,824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«Сухо–влажно»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28 из 36 полей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&gt; 0,4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Повторяемость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ρ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Относительная динамика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подтверждается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Интерпретация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28/36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информативность относительной динамики,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 не калибровка абсолютной влажности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Вывод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Δ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араллелограмм 13">
            <a:extLst xmlns:a="http://schemas.openxmlformats.org/drawingml/2006/main">
              <a:ext uri="{FF2B5EF4-FFF2-40B4-BE49-F238E27FC236}">
                <a16:creationId xmlns:a16="http://schemas.microsoft.com/office/drawing/2014/main" id="{CFBC5AB2-1024-3A3C-6270-9ABB165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114800" cy="6891867"/>
          </a:xfrm>
          <a:prstGeom xmlns:a="http://schemas.openxmlformats.org/drawingml/2006/main" prst="parallelogram">
            <a:avLst>
              <a:gd name="adj" fmla="val 0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0874E441-45AC-5068-85C2-E400F27B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562927"/>
            <a:ext cx="3739663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Вывод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и следующий этап</a:t>
            </a:r>
            <a:endParaRPr sz="2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43F5CF-DE6A-F746-68E7-12EC0447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1741224"/>
            <a:ext cx="1927192" cy="25017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6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Модель, ограниченная Sentinel-2, согласована с независимым Sentinel-1 по динамике приповерхностного водного состояния.</a:t>
            </a:r>
          </a:p>
        </p:txBody>
      </p:sp>
      <p:sp>
        <p:nvSpPr>
          <p:cNvPr id="13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9D1B7587-3C4E-6690-5B19-A0CCEFB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86063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Подтверждено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18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DB4FDA57-61E7-9AB8-B6F4-AC00BB08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3C8F5D-2935-CC32-3E45-975153CF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Совместный учёт влаги и FCOVER улучшает прогноз VV на новых полях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5773324-E961-91D9-7F45-B59259AE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2560037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Не утверждаем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E7C2838-B525-1256-26AB-C7B13E6D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D90775D-F015-471E-48B6-2D1862DF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451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не откалиброван здесь как прямое измерение абсолютной влажности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B4F135CF-AE07-3086-A245-1C0030BB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634011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Следующий шаг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11E33661-6CDA-15FC-2FAD-B2A24CDF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C42DCC8-D86B-E156-DE5C-013DDF48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74280" y="5183182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Проверка абсолютной влажности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и профиля до 1 м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AA19539-2D10-BFE5-6A26-21D43BA7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5011742-03D5-7E9D-B577-5121EA1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84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Воспроизводимая цепочка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модель → Sentinel-1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6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6E7747-0389-73A8-0B3D-87970DDE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7DB87B1-7280-168E-1643-4C1D3BE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73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Для абсолютной влажности нужны независимые наземные измерения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98C47DB0-B0C8-7B3F-5185-C6747CE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06D1BFA0-2CFD-F13A-CD24-2515E92D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36480" y="5183182"/>
            <a:ext cx="2669181" cy="5756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Спасибо за внимание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309146314"/>
      </p:ext>
    </p:extLst>
  </p:cSld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2026-08-31T14:01:25.2750000Z</dcterms:created>
  <dcterms:modified xsi:type="dcterms:W3CDTF">2026-08-31T14:01:25.2750000Z</dcterms:modified>
</coreProperties>
</file>