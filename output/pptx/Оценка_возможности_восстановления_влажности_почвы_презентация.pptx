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76ed3c945b4d7e" /><Relationship Type="http://schemas.openxmlformats.org/officeDocument/2006/relationships/extended-properties" Target="/docProps/app.xml" Id="R849b577237564391" /><Relationship Type="http://schemas.openxmlformats.org/officeDocument/2006/relationships/officeDocument" Target="/ppt/presentation.xml" Id="R477b9e36f3034a3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59e44549afd4ce9"/>
  </p:sldMasterIdLst>
  <p:notesMasterIdLst>
    <p:notesMasterId xmlns:r="http://schemas.openxmlformats.org/officeDocument/2006/relationships" r:id="R69439ed8c14f4947"/>
  </p:notesMasterIdLst>
  <p:sldIdLst>
    <p:sldId xmlns:r="http://schemas.openxmlformats.org/officeDocument/2006/relationships" id="256" r:id="R936f35d0346d4532"/>
    <p:sldId xmlns:r="http://schemas.openxmlformats.org/officeDocument/2006/relationships" id="257" r:id="Rf74d86ce2bd64618"/>
    <p:sldId xmlns:r="http://schemas.openxmlformats.org/officeDocument/2006/relationships" id="258" r:id="R751e439770684063"/>
    <p:sldId xmlns:r="http://schemas.openxmlformats.org/officeDocument/2006/relationships" id="259" r:id="Rca574b0f9a8e4af5"/>
    <p:sldId xmlns:r="http://schemas.openxmlformats.org/officeDocument/2006/relationships" id="260" r:id="R01162bff1f3c4a43"/>
    <p:sldId xmlns:r="http://schemas.openxmlformats.org/officeDocument/2006/relationships" id="261" r:id="Ree773a76a7d74980"/>
    <p:sldId xmlns:r="http://schemas.openxmlformats.org/officeDocument/2006/relationships" id="262" r:id="Rbbc930b702094b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636b9661d4426c" /><Relationship Type="http://schemas.openxmlformats.org/officeDocument/2006/relationships/slideMaster" Target="/ppt/slideMasters/slideMaster1.xml" Id="R759e44549afd4ce9" /><Relationship Type="http://schemas.openxmlformats.org/officeDocument/2006/relationships/notesMaster" Target="/ppt/notesMasters/notesMaster1.xml" Id="R69439ed8c14f4947" /><Relationship Type="http://schemas.openxmlformats.org/officeDocument/2006/relationships/presProps" Target="/ppt/presProps.xml" Id="Rec1ce10298ff46dc" /><Relationship Type="http://schemas.openxmlformats.org/officeDocument/2006/relationships/viewProps" Target="/ppt/viewProps.xml" Id="Rf6b1ea5bc40d4c4c" /><Relationship Type="http://schemas.openxmlformats.org/officeDocument/2006/relationships/tableStyles" Target="/ppt/tableStyles.xml" Id="R140764a3f846472b" /><Relationship Type="http://schemas.openxmlformats.org/officeDocument/2006/relationships/slide" Target="/ppt/slides/slide1.xml" Id="R936f35d0346d4532" /><Relationship Type="http://schemas.openxmlformats.org/officeDocument/2006/relationships/slide" Target="/ppt/slides/slide2.xml" Id="Rf74d86ce2bd64618" /><Relationship Type="http://schemas.openxmlformats.org/officeDocument/2006/relationships/slide" Target="/ppt/slides/slide3.xml" Id="R751e439770684063" /><Relationship Type="http://schemas.openxmlformats.org/officeDocument/2006/relationships/slide" Target="/ppt/slides/slide4.xml" Id="Rca574b0f9a8e4af5" /><Relationship Type="http://schemas.openxmlformats.org/officeDocument/2006/relationships/slide" Target="/ppt/slides/slide5.xml" Id="R01162bff1f3c4a43" /><Relationship Type="http://schemas.openxmlformats.org/officeDocument/2006/relationships/slide" Target="/ppt/slides/slide6.xml" Id="Ree773a76a7d74980" /><Relationship Type="http://schemas.openxmlformats.org/officeDocument/2006/relationships/slide" Target="/ppt/slides/slide7.xml" Id="Rbbc930b702094b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0e77c6a954b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0ded8e852045af" /><Relationship Type="http://schemas.openxmlformats.org/officeDocument/2006/relationships/notesMaster" Target="/ppt/notesMasters/notesMaster1.xml" Id="Reed28995cf2941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7b709771c14367" /><Relationship Type="http://schemas.openxmlformats.org/officeDocument/2006/relationships/notesMaster" Target="/ppt/notesMasters/notesMaster1.xml" Id="R78a6650ca17b43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5bde3e6073430e" /><Relationship Type="http://schemas.openxmlformats.org/officeDocument/2006/relationships/notesMaster" Target="/ppt/notesMasters/notesMaster1.xml" Id="R0c85dbc093604a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4500ceeae942ce" /><Relationship Type="http://schemas.openxmlformats.org/officeDocument/2006/relationships/notesMaster" Target="/ppt/notesMasters/notesMaster1.xml" Id="R28a24837643846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fe7e9489714971" /><Relationship Type="http://schemas.openxmlformats.org/officeDocument/2006/relationships/notesMaster" Target="/ppt/notesMasters/notesMaster1.xml" Id="Rbd4485a7bf5e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2aceaa45ac46ef" /><Relationship Type="http://schemas.openxmlformats.org/officeDocument/2006/relationships/notesMaster" Target="/ppt/notesMasters/notesMaster1.xml" Id="R2703f612fec348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1b16a027ec46d9" /><Relationship Type="http://schemas.openxmlformats.org/officeDocument/2006/relationships/notesMaster" Target="/ppt/notesMasters/notesMaster1.xml" Id="Reec4c32c27b349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Финальные тезисы: «Оценка возможности восстановления данных о влажности почвы…»,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Открытие: задача — проверить, согласуется ли независимый Sentinel-1 с расчётным приповерхностным водным состоянием.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Авторская иллюстрация, предоставленная пользователем; финальные тезисы, введение и обсуждение.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Ключевой тезис: мы не выдаём VV за прямое измерение влажности. Проверяем, даёт ли он независимое подтверждение расчётной динамики.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Авторская иллюстрация, предоставленная пользователем; документация проекта: docs/wiki/ARCHITECTURE.md, docs/wiki/PIPELINES.md.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Архитектура: единственный пользовательский интерфейс — QGIS-плагин. Он связывает локальные пространственные и временные данные с PyQGIS/GDAL-сценариями и выдаёт слои, диаграммы и JSON-протокол.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sp_full_experiment_protocol.json: sentinel2_fcover и kornix_fcover_lag.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Лаг относится к визуальному сопоставлению кривых покрытия: модельная кривая показана на 12 суток правее. Это не изменяет исходные даты в рядах.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Финальные тезисы, раздел «Результаты»; sp_full_experiment_protocol.json: sentinel1_validation, cross_validated_predictive_gain.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Главный результат — не абсолютное R², а устойчивый прирост M3 на полях, которые модель не видела. Прирост M3–M1: 0,078, bootstrap 95% CI 0,035…0,128.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Финальные тезисы, раздел «Результаты»; sp_full_experiment_protocol.json: observability_analysis.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Эти показатели — дополнительная диагностика. Основное доказательство — межполевая проверка M1–M3 на предыдущем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Финальные тезисы, заключение.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Закрытие: работа подтверждает необходимую предпосылку дальнейшей реконструкции. Для утверждений об абсолютной влажности и глубине до 1 м потребуются независимые наземные измерения.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c8a80f1be4d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d8bbf1e2243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28b4f974648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1a430790542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19f38991344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5612024ee4ef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9b719d391418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18ec6a9724c7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ae07f5f82437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a59e2c27b4cc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469dfd55e4e42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3379BA0-411E-A65B-876A-7611F71E373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A7E0D2E3-37C1-D763-45E1-5611DCB124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8BA40A64-28A0-00A1-D917-2A896022B5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1DA8E28-A781-8F75-66B2-59F3125B83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F558D9E-7590-D7A8-4C58-D3A2D81C12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B2ED183-9AEB-04E1-1030-33EF54C1D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3E7279B3-8393-6458-8BB7-7ADA4E5B68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C6C40523-4510-EF74-45EE-D22BB79AC3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8CB625F-5079-C90D-D8DF-CB7B60491A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8AA83B6-A404-5936-CC80-EC9668C5D7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4C1A509-87DC-767E-1832-C7CC363AA8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751884C6-3013-2458-0D68-A790216584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82003E16-5D83-7B39-5E7A-9F01AC18D4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C7CCE9B-95D8-9316-C686-67A20911F8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AC337C9-1926-3AED-110C-23634C2461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C82984E-EC5B-9060-A2BD-594795B09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B929E23-65B3-BB1A-8057-C43A937AF8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8FBCA964-7517-C44F-4089-D73C8C9A4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F1D9D7B3-96A9-1F31-FFD0-CED4EDBF80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C248DED3-81A7-C95A-C099-288A4C2E96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DBEE3D20-8724-FA65-EF34-BC2B1AD602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4D5074E-293E-3A76-CAC2-6C5894148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9C44E037-C4FA-D65F-DD15-3EB27E8E36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E1D5DBB3-1C4A-34AF-0037-C7D147D1692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1D213FB-DBAC-11C6-C232-49F21D795CF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3A6A2461-D4A7-7991-4932-4BC08454C0A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4503503A-4F0A-0B84-8B95-C5532231AA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F72E2AA5-B04B-511D-3F64-47B0E937A2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E3BCC1A9-C078-D857-B6FC-D2BE7A492C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44877D4-61ED-5225-4B61-2CBCB01D3A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CD96CAC9-68A8-6AA1-1060-7FB102AFC4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69B4FA76-A58E-6266-E50F-6EE6783FD0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D54F895F-D327-014B-C3DF-00E769390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AB5F5DA4-954D-7489-7260-247E226179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48D1EA36-18D0-FCE9-0CEB-63DC27AEE1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48138B87-3BE8-E11A-4CA5-32AB35B129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B872561-52A2-5966-54B8-EEDDAEB38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20A797C-423C-AC6B-D4D5-A9A8E00A21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82BE570D-2BFC-B862-DCD3-1F1B707F33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0C8C0C96-5EA3-6E15-1B27-D078901888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818A6578-8C97-AD3E-6C9F-9C52222A9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3218E633-B5FC-2FB9-CCBB-E727CBD45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46DECCB-440D-BA77-A255-47BA24D552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01D359C9-E73A-60DA-395D-0BA533E81B1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E7F5D950-A285-52A7-3A70-B9D48FD5FD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BFE07823-E262-66FD-5E7C-73C2301256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9C19CEFE-2C72-7E64-ED66-D17D5B3318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4D100F73-52A0-70AA-D241-932B266396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A2BACE5-BB05-C3A5-DD41-1733373E76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6BADC787-2CB8-7D05-7248-858F71956C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113BAE0B-13F0-64F1-931E-30D572758F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9F82812-101B-7090-50AB-7588FBD065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C966155-AA2C-8FF1-D604-9C0D5E236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FB54F11-0A84-1BDD-F8B1-4A6AB3407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10E85FF9-1A4D-2103-8E70-27524A4F11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9F23D07-ACD4-B405-AC0F-BCC390067E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5CD1D5B-DEBA-3AA4-215A-3DDE741900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1AA6B24-E5D5-0134-836C-502AE8CBBB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6b4a20d7b6472c" /><Relationship Type="http://schemas.openxmlformats.org/officeDocument/2006/relationships/slideLayout" Target="/ppt/slideLayouts/slideLayout1.xml" Id="R09bd58ffe8a74b29" /><Relationship Type="http://schemas.openxmlformats.org/officeDocument/2006/relationships/slideLayout" Target="/ppt/slideLayouts/slideLayout2.xml" Id="Rc8493c21cc074248" /><Relationship Type="http://schemas.openxmlformats.org/officeDocument/2006/relationships/slideLayout" Target="/ppt/slideLayouts/slideLayout3.xml" Id="Rc635751b85e6470c" /><Relationship Type="http://schemas.openxmlformats.org/officeDocument/2006/relationships/slideLayout" Target="/ppt/slideLayouts/slideLayout4.xml" Id="R4426eea5eb11470f" /><Relationship Type="http://schemas.openxmlformats.org/officeDocument/2006/relationships/slideLayout" Target="/ppt/slideLayouts/slideLayout5.xml" Id="R545cd6debd3e437e" /><Relationship Type="http://schemas.openxmlformats.org/officeDocument/2006/relationships/slideLayout" Target="/ppt/slideLayouts/slideLayout6.xml" Id="R223a09f4f6df482e" /><Relationship Type="http://schemas.openxmlformats.org/officeDocument/2006/relationships/slideLayout" Target="/ppt/slideLayouts/slideLayout7.xml" Id="Ra5503ebbe04f4fb6" /><Relationship Type="http://schemas.openxmlformats.org/officeDocument/2006/relationships/slideLayout" Target="/ppt/slideLayouts/slideLayout8.xml" Id="R1a5620b56d594551" /><Relationship Type="http://schemas.openxmlformats.org/officeDocument/2006/relationships/slideLayout" Target="/ppt/slideLayouts/slideLayout9.xml" Id="Ra57329ae58934f05" /><Relationship Type="http://schemas.openxmlformats.org/officeDocument/2006/relationships/slideLayout" Target="/ppt/slideLayouts/slideLayout10.xml" Id="Ra22e827efd904559" /><Relationship Type="http://schemas.openxmlformats.org/officeDocument/2006/relationships/slideLayout" Target="/ppt/slideLayouts/slideLayout11.xml" Id="R3bc62236139d401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9B47216-A557-C48B-4C71-1A240DCE6F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0C322E18-8D58-0C66-D787-DB415C9907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90DDE747-9118-13EB-934F-B918F17AD3D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BAE4A8F-D894-394B-8106-7DD72FD6EB1F}" type="datetimeFigureOut">
              <a:t>13.02.2023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9205960-BE43-11EA-5C91-829BA1B3E3D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E9CC4A4-F428-D59F-9C65-A877CAF52A4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1440" y="3246437"/>
            <a:ext cx="478536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ALS Sector Regular"/>
                <a:ea typeface="ALS Sector Regular"/>
                <a:cs typeface="ALS Sector Regular"/>
              </a:defRPr>
            </a:lvl1pPr>
          </a:lstStyle>
          <a:p xmlns:a="http://schemas.openxmlformats.org/drawingml/2006/main">
            <a:fld id="{1363E1C1-A028-4D4E-A8C8-9214D2A1B6C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bd58ffe8a74b29"/>
    <p:sldLayoutId xmlns:r="http://schemas.openxmlformats.org/officeDocument/2006/relationships" id="2147483650" r:id="Rc8493c21cc074248"/>
    <p:sldLayoutId xmlns:r="http://schemas.openxmlformats.org/officeDocument/2006/relationships" id="2147483651" r:id="Rc635751b85e6470c"/>
    <p:sldLayoutId xmlns:r="http://schemas.openxmlformats.org/officeDocument/2006/relationships" id="2147483652" r:id="R4426eea5eb11470f"/>
    <p:sldLayoutId xmlns:r="http://schemas.openxmlformats.org/officeDocument/2006/relationships" id="2147483653" r:id="R545cd6debd3e437e"/>
    <p:sldLayoutId xmlns:r="http://schemas.openxmlformats.org/officeDocument/2006/relationships" id="2147483654" r:id="R223a09f4f6df482e"/>
    <p:sldLayoutId xmlns:r="http://schemas.openxmlformats.org/officeDocument/2006/relationships" id="2147483655" r:id="Ra5503ebbe04f4fb6"/>
    <p:sldLayoutId xmlns:r="http://schemas.openxmlformats.org/officeDocument/2006/relationships" id="2147483656" r:id="R1a5620b56d594551"/>
    <p:sldLayoutId xmlns:r="http://schemas.openxmlformats.org/officeDocument/2006/relationships" id="2147483657" r:id="Ra57329ae58934f05"/>
    <p:sldLayoutId xmlns:r="http://schemas.openxmlformats.org/officeDocument/2006/relationships" id="2147483658" r:id="Ra22e827efd904559"/>
    <p:sldLayoutId xmlns:r="http://schemas.openxmlformats.org/officeDocument/2006/relationships" id="2147483659" r:id="R3bc62236139d401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6c45c839464692" /><Relationship Type="http://schemas.openxmlformats.org/officeDocument/2006/relationships/image" Target="/ppt/media/image.jpeg" Id="Rb3b362c80b694e8e" /><Relationship Type="http://schemas.openxmlformats.org/officeDocument/2006/relationships/notesSlide" Target="/ppt/notesSlides/notesSlide1.xml" Id="Rcbb748c4f2c547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74af91a324f0b" /><Relationship Type="http://schemas.openxmlformats.org/officeDocument/2006/relationships/image" Target="/ppt/media/image.png" Id="R5a6e81d0cd914dcd" /><Relationship Type="http://schemas.openxmlformats.org/officeDocument/2006/relationships/notesSlide" Target="/ppt/notesSlides/notesSlide2.xml" Id="R0e852b09a45541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57f2c9ac924f5c" /><Relationship Type="http://schemas.openxmlformats.org/officeDocument/2006/relationships/image" Target="/ppt/media/image2.png" Id="R227d07991b62499e" /><Relationship Type="http://schemas.openxmlformats.org/officeDocument/2006/relationships/notesSlide" Target="/ppt/notesSlides/notesSlide3.xml" Id="R573e5b80b8f443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2058360da04698" /><Relationship Type="http://schemas.openxmlformats.org/officeDocument/2006/relationships/notesSlide" Target="/ppt/notesSlides/notesSlide4.xml" Id="R2d46986ef1404d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64004aa3e34117" /><Relationship Type="http://schemas.openxmlformats.org/officeDocument/2006/relationships/chart" Target="/ppt/slides/charts/chart1.xml" Id="R37b7cfeba1e14228" /><Relationship Type="http://schemas.openxmlformats.org/officeDocument/2006/relationships/notesSlide" Target="/ppt/notesSlides/notesSlide5.xml" Id="R093562ebf3c042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f7ff09e48844e4" /><Relationship Type="http://schemas.openxmlformats.org/officeDocument/2006/relationships/notesSlide" Target="/ppt/notesSlides/notesSlide6.xml" Id="R51b1170e99c843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0597209352492c" /><Relationship Type="http://schemas.openxmlformats.org/officeDocument/2006/relationships/notesSlide" Target="/ppt/notesSlides/notesSlide7.xml" Id="Rad2398a68363432c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R²out</a:t>
            </a:r>
          </a:p>
        </c:rich>
      </c:tx>
      <c:overlay val="0"/>
    </c:title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 xmlns:a="http://schemas.openxmlformats.org/drawingml/2006/main">
              <a:srgbClr val="2176E5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434343"/>
                    </a:solidFill>
                    <a:latin typeface="ALS Sector Regular"/>
                    <a:ea typeface="ALS Sector Regular"/>
                    <a:cs typeface="ALS Sector Regula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M1</c:v>
                </c:pt>
                <c:pt idx="1">
                  <c:v>M2</c:v>
                </c:pt>
                <c:pt idx="2">
                  <c:v>M3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0.113</c:v>
                </c:pt>
                <c:pt idx="2">
                  <c:v>0.137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D355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31040959"/>
        <c:axId val="230925407"/>
      </c:barChart>
      <c:catAx>
        <c:axId val="23104095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noFill/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defRPr>
            </a:pPr>
          </a:p>
        </c:txPr>
        <c:crossAx val="230925407"/>
        <c:crosses val="autoZero"/>
        <c:lblOffset val="100"/>
      </c:catAx>
      <c:valAx>
        <c:axId val="230925407"/>
        <c:scaling>
          <c:orientation val="minMax"/>
          <c:max val="0.16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4F5"/>
              </a:solidFill>
              <a:prstDash val="solid"/>
            </a:ln>
          </c:spPr>
        </c:majorGridlines>
        <c:numFmt formatCode="0.00" sourceLinked="1"/>
        <c:majorTickMark val="out"/>
        <c:minorTickMark val="none"/>
        <c:tickLblPos val="nextTo"/>
        <c:crossAx val="231040959"/>
        <c:crosses val="autoZero"/>
        <c:crossBetween val="between"/>
        <c:majorUnit val="0.04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3b362c80b694e8e">
            <a:lum/>
          </a:blip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34" y="2863768"/>
            <a:ext cx="11211339" cy="1130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0141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5400" b="1">
                <a:solidFill>
                  <a:schemeClr val="bg1"/>
                </a:solidFill>
                <a:latin typeface="ALS Sector Regular"/>
                <a:ea typeface="ALS Sector Regular"/>
                <a:cs typeface="ALS Sector Regular"/>
              </a:rPr>
              <a:t>Оценка влажности почвы</a:t>
            </a:r>
          </a:p>
          <a:p xmlns:a="http://schemas.openxmlformats.org/drawingml/2006/main">
            <a:r>
              <a:rPr sz="5400" b="1">
                <a:solidFill>
                  <a:schemeClr val="bg1"/>
                </a:solidFill>
                <a:latin typeface="ALS Sector Regular"/>
                <a:ea typeface="ALS Sector Regular"/>
                <a:cs typeface="ALS Sector Regular"/>
              </a:rPr>
              <a:t>по модели и данным Sentinel-1/2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36" y="6079140"/>
            <a:ext cx="5316372" cy="400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Clr>
                <a:srgbClr val="176DEA"/>
              </a:buClr>
              <a:buNone/>
            </a:pPr>
            <a:r>
              <a:rPr sz="2000">
                <a:solidFill>
                  <a:schemeClr val="bg1">
                    <a:alpha val="50000"/>
                  </a:schemeClr>
                </a:solidFill>
                <a:latin typeface="ALS Sector Regular"/>
                <a:ea typeface="ALS Sector Regular"/>
                <a:cs typeface="ALS Sector Regular"/>
              </a:rPr>
              <a:t>2026</a:t>
            </a:r>
          </a:p>
        </p:txBody>
      </p:sp>
      <p:sp>
        <p:nvSpPr>
          <p:cNvPr id="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AC25DA0-FB7B-F5ED-1652-54BE4C90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33" y="378750"/>
            <a:ext cx="11211339" cy="653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000">
                <a:solidFill>
                  <a:schemeClr val="bg1"/>
                </a:solidFill>
                <a:latin typeface="ALS Sector Regular"/>
                <a:ea typeface="ALS Sector Regular"/>
                <a:cs typeface="ALS Sector Regular"/>
              </a:rPr>
              <a:t>МГТУ им. Н.Э. Баумана · кафедра ИУ5</a:t>
            </a:r>
          </a:p>
          <a:p xmlns:a="http://schemas.openxmlformats.org/drawingml/2006/main">
            <a:r>
              <a:rPr sz="2000">
                <a:solidFill>
                  <a:schemeClr val="bg1"/>
                </a:solidFill>
                <a:latin typeface="ALS Sector Regular"/>
                <a:ea typeface="ALS Sector Regular"/>
                <a:cs typeface="ALS Sector Regular"/>
              </a:rPr>
              <a:t>Корнеев Григорий Ильич · ИУ5-34Б</a:t>
            </a:r>
          </a:p>
        </p:txBody>
      </p:sp>
    </p:spTree>
    <p:extLst>
      <p:ext uri="{BB962C8B-B14F-4D97-AF65-F5344CB8AC3E}">
        <p14:creationId xmlns:p14="http://schemas.microsoft.com/office/powerpoint/2010/main" val="41346015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DCF96FA-98E6-E2E9-FEA8-646100BD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6944" y="133350"/>
            <a:ext cx="6782401" cy="659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AE51AFE0-E498-130B-EF2F-85CF4E00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1527" y="2995630"/>
            <a:ext cx="5390784" cy="8898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200">
                <a:solidFill>
                  <a:schemeClr val="accent1">
                    <a:lumMod val="60000"/>
                    <a:lumOff val="40000"/>
                  </a:schemeClr>
                </a:solidFill>
                <a:latin typeface="ALS Sector Regular"/>
                <a:ea typeface="ALS Sector Regular"/>
                <a:cs typeface="ALS Sector Regular"/>
              </a:rPr>
              <a:t/>
            </a:r>
          </a:p>
        </p:txBody>
      </p:sp>
      <p:sp>
        <p:nvSpPr>
          <p:cNvPr id="8" name="Параллелограмм 7">
            <a:extLst xmlns:a="http://schemas.openxmlformats.org/drawingml/2006/main"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45122" y="-887968"/>
            <a:ext cx="9386048" cy="81153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6D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05459" y="1032693"/>
            <a:ext cx="4384451" cy="174982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>
                <a:solidFill>
                  <a:schemeClr val="bg1"/>
                </a:solidFill>
                <a:latin typeface="ALS Sector Regular"/>
                <a:ea typeface="ALS Sector Regular"/>
                <a:cs typeface="ALS Sector Regular"/>
              </a:rPr>
              <a:t>Проблема и гипотеза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-2543175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39" name="Google Shape;55;p2"/>
          <p:cNvCxnSpPr/>
          <p:nvPr/>
        </p:nvCxnSpPr>
        <p:spPr>
          <a:xfrm xmlns:a="http://schemas.openxmlformats.org/drawingml/2006/main" rot="0" flipH="0" flipV="0">
            <a:off x="762431" y="3245219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56;p2">
            <a:extLst xmlns:a="http://schemas.openxmlformats.org/drawingml/2006/main">
              <a:ext uri="{FF2B5EF4-FFF2-40B4-BE49-F238E27FC236}">
                <a16:creationId xmlns:a16="http://schemas.microsoft.com/office/drawing/2014/main" id="{0D2B7FCE-1825-555F-2617-815091C0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394" y="2979762"/>
            <a:ext cx="2816400" cy="530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600">
                <a:solidFill>
                  <a:srgbClr val="FFFFFF"/>
                </a:solidFill>
                <a:latin typeface="ALS Sector Regular"/>
                <a:ea typeface="ALS Sector Regular"/>
                <a:cs typeface="ALS Sector Regular"/>
              </a:rPr>
              <a:t>VV смешивает два фактора</a:t>
            </a:r>
          </a:p>
        </p:txBody>
      </p:sp>
      <p:cxnSp>
        <p:nvCxnSpPr>
          <p:cNvPr id="41" name="Google Shape;57;p2"/>
          <p:cNvCxnSpPr/>
          <p:nvPr/>
        </p:nvCxnSpPr>
        <p:spPr>
          <a:xfrm xmlns:a="http://schemas.openxmlformats.org/drawingml/2006/main" rot="0" flipH="0" flipV="0">
            <a:off x="762431" y="442944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58;p2">
            <a:extLst xmlns:a="http://schemas.openxmlformats.org/drawingml/2006/main">
              <a:ext uri="{FF2B5EF4-FFF2-40B4-BE49-F238E27FC236}">
                <a16:creationId xmlns:a16="http://schemas.microsoft.com/office/drawing/2014/main" id="{60E977CA-9238-0EE4-5E5E-DD69ED3C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394" y="4287097"/>
            <a:ext cx="2816400" cy="525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lvl="0">
              <a:spcBef>
                <a:spcPts val="300"/>
              </a:spcBef>
              <a:buNone/>
            </a:pPr>
            <a:r>
              <a:rPr sz="1600">
                <a:solidFill>
                  <a:srgbClr val="FFFFFF"/>
                </a:solidFill>
                <a:latin typeface="ALS Sector Regular"/>
                <a:ea typeface="ALS Sector Regular"/>
                <a:cs typeface="ALS Sector Regular"/>
              </a:rPr>
              <a:t>FCOVER выделяет растительность</a:t>
            </a:r>
          </a:p>
        </p:txBody>
      </p:sp>
      <p:cxnSp>
        <p:nvCxnSpPr>
          <p:cNvPr id="43" name="Google Shape;59;p2"/>
          <p:cNvCxnSpPr/>
          <p:nvPr/>
        </p:nvCxnSpPr>
        <p:spPr>
          <a:xfrm xmlns:a="http://schemas.openxmlformats.org/drawingml/2006/main" rot="0" flipH="0" flipV="0">
            <a:off x="755091" y="502155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60;p2">
            <a:extLst xmlns:a="http://schemas.openxmlformats.org/drawingml/2006/main">
              <a:ext uri="{FF2B5EF4-FFF2-40B4-BE49-F238E27FC236}">
                <a16:creationId xmlns:a16="http://schemas.microsoft.com/office/drawing/2014/main" id="{4772CD6F-99B4-268C-5DCF-BFA1F107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054" y="4879209"/>
            <a:ext cx="2816400" cy="284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lvl="0">
              <a:spcBef>
                <a:spcPts val="300"/>
              </a:spcBef>
              <a:buNone/>
            </a:pPr>
            <a:r>
              <a:rPr sz="1600">
                <a:solidFill>
                  <a:srgbClr val="FFFFFF"/>
                </a:solidFill>
                <a:latin typeface="ALS Sector Regular"/>
                <a:ea typeface="ALS Sector Regular"/>
                <a:cs typeface="ALS Sector Regular"/>
              </a:rPr>
              <a:t>Гипотеза: VV отражает θ0–10</a:t>
            </a:r>
          </a:p>
        </p:txBody>
      </p:sp>
      <p:cxnSp>
        <p:nvCxnSpPr>
          <p:cNvPr id="45" name="Google Shape;55;p2"/>
          <p:cNvCxnSpPr/>
          <p:nvPr/>
        </p:nvCxnSpPr>
        <p:spPr>
          <a:xfrm xmlns:a="http://schemas.openxmlformats.org/drawingml/2006/main" rot="0" flipH="0" flipV="0">
            <a:off x="755091" y="3837331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56;p2">
            <a:extLst xmlns:a="http://schemas.openxmlformats.org/drawingml/2006/main">
              <a:ext uri="{FF2B5EF4-FFF2-40B4-BE49-F238E27FC236}">
                <a16:creationId xmlns:a16="http://schemas.microsoft.com/office/drawing/2014/main" id="{E74035EC-4385-4B06-B945-D912BB10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054" y="3694985"/>
            <a:ext cx="2816400" cy="525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lvl="0">
              <a:spcBef>
                <a:spcPts val="300"/>
              </a:spcBef>
              <a:buNone/>
            </a:pPr>
            <a:r>
              <a:rPr sz="1600">
                <a:solidFill>
                  <a:srgbClr val="FFFFFF"/>
                </a:solidFill>
                <a:latin typeface="ALS Sector Regular"/>
                <a:ea typeface="ALS Sector Regular"/>
                <a:cs typeface="ALS Sector Regular"/>
              </a:rPr>
              <a:t>Прямая влажность недоступна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e81d0cd914dcd"/>
          <a:stretch xmlns:a="http://schemas.openxmlformats.org/drawingml/2006/main"/>
        </p:blipFill>
        <p:spPr>
          <a:xfrm xmlns:a="http://schemas.openxmlformats.org/drawingml/2006/main">
            <a:off x="7924800" y="1151014"/>
            <a:ext cx="3905250" cy="4879822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5A33B9-A515-44C5-AE75-1B72BEF6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90650"/>
            <a:ext cx="1276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3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56B6"/>
                </a:solidFill>
              </a:defRPr>
            </a:pPr>
            <a:r>
              <a:rPr sz="975" b="1">
                <a:solidFill>
                  <a:srgbClr val="1856B6"/>
                </a:solidFill>
              </a:rPr>
              <a:t>Sentinel-1</a:t>
            </a:r>
          </a:p>
          <a:p xmlns:a="http://schemas.openxmlformats.org/drawingml/2006/main">
            <a:pPr algn="ctr">
              <a:defRPr sz="975" b="1">
                <a:solidFill>
                  <a:srgbClr val="1856B6"/>
                </a:solidFill>
              </a:defRPr>
            </a:pPr>
            <a:r>
              <a:rPr sz="975" b="1">
                <a:solidFill>
                  <a:srgbClr val="1856B6"/>
                </a:solidFill>
              </a:rPr>
              <a:t>VV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190DF-94C0-4650-91B0-5FD988C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6685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3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56B6"/>
                </a:solidFill>
              </a:defRPr>
            </a:pPr>
            <a:r>
              <a:rPr sz="975" b="1">
                <a:solidFill>
                  <a:srgbClr val="1856B6"/>
                </a:solidFill>
              </a:rPr>
              <a:t>Sentinel-2</a:t>
            </a:r>
          </a:p>
          <a:p xmlns:a="http://schemas.openxmlformats.org/drawingml/2006/main">
            <a:pPr algn="ctr">
              <a:defRPr sz="975" b="1">
                <a:solidFill>
                  <a:srgbClr val="1856B6"/>
                </a:solidFill>
              </a:defRPr>
            </a:pPr>
            <a:r>
              <a:rPr sz="975" b="1">
                <a:solidFill>
                  <a:srgbClr val="1856B6"/>
                </a:solidFill>
              </a:rPr>
              <a:t>FCOVER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D4A69-36D2-4C96-9B18-93963F64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768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3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56B6"/>
                </a:solidFill>
              </a:defRPr>
            </a:pPr>
            <a:r>
              <a:rPr sz="975" b="1">
                <a:solidFill>
                  <a:srgbClr val="1856B6"/>
                </a:solidFill>
              </a:rPr>
              <a:t>Расчётная влажность</a:t>
            </a:r>
          </a:p>
          <a:p xmlns:a="http://schemas.openxmlformats.org/drawingml/2006/main">
            <a:pPr algn="ctr">
              <a:defRPr sz="975" b="1">
                <a:solidFill>
                  <a:srgbClr val="1856B6"/>
                </a:solidFill>
              </a:defRPr>
            </a:pPr>
            <a:r>
              <a:rPr sz="975" b="1">
                <a:solidFill>
                  <a:srgbClr val="1856B6"/>
                </a:solidFill>
              </a:rPr>
              <a:t>θ 0–10 см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90BFE3-6A01-466A-9937-E30B4F53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91250"/>
            <a:ext cx="3524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3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56B6"/>
                </a:solidFill>
              </a:defRPr>
            </a:pPr>
            <a:r>
              <a:rPr sz="975" b="1">
                <a:solidFill>
                  <a:srgbClr val="1856B6"/>
                </a:solidFill>
              </a:rPr>
              <a:t>VV — не прямое измерение влажности</a:t>
            </a:r>
          </a:p>
        </p:txBody>
      </p:sp>
    </p:spTree>
    <p:extLst>
      <p:ext uri="{BB962C8B-B14F-4D97-AF65-F5344CB8AC3E}">
        <p14:creationId xmlns:p14="http://schemas.microsoft.com/office/powerpoint/2010/main" val="1855870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FB7721B3-9A7B-E718-ACD8-013893BB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08" y="544804"/>
            <a:ext cx="4574939" cy="353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000" spc="3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Архитектура ИС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69C84B-131E-ACC0-F989-95E2794D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307" y="1738488"/>
            <a:ext cx="2692352" cy="625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Контуры полей</a:t>
            </a:r>
          </a:p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Sentinel-1 / Sentinel-2</a:t>
            </a:r>
          </a:p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суточные ряды модели</a:t>
            </a:r>
          </a:p>
        </p:txBody>
      </p:sp>
      <p:sp>
        <p:nvSpPr>
          <p:cNvPr id="7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3FFFB774-4DEE-3FB3-D502-F89B5431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307" y="1407790"/>
            <a:ext cx="4574939" cy="283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600" spc="3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Входы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9800EDF-F699-A274-D060-836790F7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307" y="2885745"/>
            <a:ext cx="2692352" cy="41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Плагин QGIS</a:t>
            </a:r>
          </a:p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запуск сценариев и просмотр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D4D0ECA-0A72-9D4F-D064-321DF8D8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307" y="2604291"/>
            <a:ext cx="2692352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Интерфейс</a:t>
            </a:r>
          </a:p>
        </p:txBody>
      </p:sp>
      <p:cxnSp>
        <p:nvCxnSpPr>
          <p:cNvPr id="44" name="Google Shape;422;g14739c8fea3_0_168"/>
          <p:cNvCxnSpPr/>
          <p:nvPr/>
        </p:nvCxnSpPr>
        <p:spPr>
          <a:xfrm xmlns:a="http://schemas.openxmlformats.org/drawingml/2006/main" flipV="1">
            <a:off x="8538572" y="1407790"/>
            <a:ext cx="0" cy="4939222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58A4346-1888-3C94-0B69-7AF09ABE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821" y="1738488"/>
            <a:ext cx="2692352" cy="41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PyQGIS / GDAL</a:t>
            </a:r>
          </a:p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расчёты и аналитические сценарии</a:t>
            </a:r>
          </a:p>
        </p:txBody>
      </p:sp>
      <p:sp>
        <p:nvSpPr>
          <p:cNvPr id="21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8F9A23EF-E6AB-D44C-5C29-7E2D100C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821" y="1407790"/>
            <a:ext cx="4574939" cy="283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600" spc="3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Обработка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982D219-1D16-A9C7-6B34-20A576E1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821" y="2885745"/>
            <a:ext cx="2692352" cy="41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Слои и карты QGIS</a:t>
            </a:r>
          </a:p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диаграммы и JSON-протокол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6D796B6-19A4-DBB2-22E9-A442DC2D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821" y="2604291"/>
            <a:ext cx="2692352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Выходы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5D7016-54DB-48A5-9468-B24D07FC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83870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6FF"/>
          </a:solidFill>
          <a:ln xmlns:a="http://schemas.openxmlformats.org/drawingml/2006/main" w="0">
            <a:solidFill>
              <a:srgbClr val="D7E6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BAAC0F-472C-4109-B28B-3FFC2A8C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3870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6FF"/>
          </a:solidFill>
          <a:ln xmlns:a="http://schemas.openxmlformats.org/drawingml/2006/main" w="0">
            <a:solidFill>
              <a:srgbClr val="D7E6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43849E-3C15-4EBB-A853-5E218381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83870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6FF"/>
          </a:solidFill>
          <a:ln xmlns:a="http://schemas.openxmlformats.org/drawingml/2006/main" w="0">
            <a:solidFill>
              <a:srgbClr val="D7E6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B29122-2F83-427F-86C4-5A0AD1E8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76750"/>
            <a:ext cx="14668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3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16FE8"/>
                </a:solidFill>
              </a:defRPr>
            </a:pPr>
            <a:r>
              <a:rPr sz="1050" b="1">
                <a:solidFill>
                  <a:srgbClr val="216FE8"/>
                </a:solidFill>
              </a:rPr>
              <a:t>Данные</a:t>
            </a:r>
          </a:p>
          <a:p xmlns:a="http://schemas.openxmlformats.org/drawingml/2006/main">
            <a:pPr algn="ctr">
              <a:defRPr sz="1050" b="1">
                <a:solidFill>
                  <a:srgbClr val="216FE8"/>
                </a:solidFill>
              </a:defRPr>
            </a:pPr>
            <a:r>
              <a:rPr sz="1050" b="1">
                <a:solidFill>
                  <a:srgbClr val="216FE8"/>
                </a:solidFill>
              </a:rPr>
              <a:t>слои и временные ряды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89616A-1AC0-4176-88F3-33AAB822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14668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3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16FE8"/>
                </a:solidFill>
              </a:defRPr>
            </a:pPr>
            <a:r>
              <a:rPr sz="1050" b="1">
                <a:solidFill>
                  <a:srgbClr val="216FE8"/>
                </a:solidFill>
              </a:rPr>
              <a:t>Модуль QGIS</a:t>
            </a:r>
          </a:p>
          <a:p xmlns:a="http://schemas.openxmlformats.org/drawingml/2006/main">
            <a:pPr algn="ctr">
              <a:defRPr sz="1050" b="1">
                <a:solidFill>
                  <a:srgbClr val="216FE8"/>
                </a:solidFill>
              </a:defRPr>
            </a:pPr>
            <a:r>
              <a:rPr sz="1050" b="1">
                <a:solidFill>
                  <a:srgbClr val="216FE8"/>
                </a:solidFill>
              </a:rPr>
              <a:t>кнопки и просмотр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B6B3F1-7C5E-4796-999D-266689AD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76750"/>
            <a:ext cx="14668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3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16FE8"/>
                </a:solidFill>
              </a:defRPr>
            </a:pPr>
            <a:r>
              <a:rPr sz="1050" b="1">
                <a:solidFill>
                  <a:srgbClr val="216FE8"/>
                </a:solidFill>
              </a:rPr>
              <a:t>Сценарии</a:t>
            </a:r>
          </a:p>
          <a:p xmlns:a="http://schemas.openxmlformats.org/drawingml/2006/main">
            <a:pPr algn="ctr">
              <a:defRPr sz="1050" b="1">
                <a:solidFill>
                  <a:srgbClr val="216FE8"/>
                </a:solidFill>
              </a:defRPr>
            </a:pPr>
            <a:r>
              <a:rPr sz="1050" b="1">
                <a:solidFill>
                  <a:srgbClr val="216FE8"/>
                </a:solidFill>
              </a:rPr>
              <a:t>расчёт и анализ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95C8E1-BF95-4AE9-89E4-6E95E249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76750"/>
            <a:ext cx="14668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216FE8"/>
          </a:solidFill>
          <a:ln xmlns:a="http://schemas.openxmlformats.org/drawingml/2006/main" w="9525">
            <a:solidFill>
              <a:srgbClr val="B8D3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Результаты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карты, графики, JSON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d07991b62499e"/>
          <a:stretch xmlns:a="http://schemas.openxmlformats.org/drawingml/2006/main"/>
        </p:blipFill>
        <p:spPr>
          <a:xfrm xmlns:a="http://schemas.openxmlformats.org/drawingml/2006/main">
            <a:off x="349152" y="0"/>
            <a:ext cx="1149369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81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FB521582-DCFA-CAE4-6F22-DFAFEB06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004" y="3523779"/>
            <a:ext cx="3687433" cy="860104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9EBCDAC-AEE5-88E8-3C3F-9104A87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84" y="3860235"/>
            <a:ext cx="320451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около 12 суток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кривая модели сдвигается вправо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FCD1D0A-919F-69A4-D09F-4C03BBBF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86" y="3625559"/>
            <a:ext cx="3204518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Лаг покрытия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3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E1F50917-96C6-24BC-A19A-3412F2B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004" y="1761395"/>
            <a:ext cx="5545166" cy="1347283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F01C867-0767-124E-9D92-01AFDAA6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151" y="2288427"/>
            <a:ext cx="48189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r = 0,763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R² = 0,583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917517-CF32-E120-A224-5AA3EC74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153" y="1920826"/>
            <a:ext cx="4818958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Связь рядов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6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634E1173-2999-9B73-21B6-3ACAF2D8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74" y="544804"/>
            <a:ext cx="4574939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000" spc="3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FCOVER ограничивает модель</a:t>
            </a:r>
          </a:p>
        </p:txBody>
      </p:sp>
      <p:sp>
        <p:nvSpPr>
          <p:cNvPr id="17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414298D1-E7A5-E014-FE3A-97C7FFBE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74" y="1090940"/>
            <a:ext cx="4574939" cy="63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pc="3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Проверка выполнена до Sentinel-1</a:t>
            </a:r>
          </a:p>
        </p:txBody>
      </p:sp>
      <p:sp>
        <p:nvSpPr>
          <p:cNvPr id="19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A6B5F328-CF02-2936-7D86-B260ECDC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004" y="4798984"/>
            <a:ext cx="2622671" cy="1347283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47D4EC6-6D53-91D3-D06A-DE224036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086" y="5326016"/>
            <a:ext cx="2279199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Sentinel-2 фиксирует сезонную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динамику растительности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5131FA9-F518-6555-5B9A-165408B1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087" y="4958415"/>
            <a:ext cx="2279200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Смысл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1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7C0C7529-75C9-F2DD-4D2F-A85B9CB6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8600" y="1763590"/>
            <a:ext cx="5545166" cy="1347283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4601E31-CA91-B1F4-B822-15A808E9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747" y="2290622"/>
            <a:ext cx="48189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медиана r = 0,944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34 из 36 связей положительные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EACFE02-6694-E808-2485-7D37CCF2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749" y="1923021"/>
            <a:ext cx="4818958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Внутри полей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8" name="Овал 37">
            <a:extLst xmlns:a="http://schemas.openxmlformats.org/drawingml/2006/main">
              <a:ext uri="{FF2B5EF4-FFF2-40B4-BE49-F238E27FC236}">
                <a16:creationId xmlns:a16="http://schemas.microsoft.com/office/drawing/2014/main" id="{561F09B3-AAD6-8997-CB73-AF9BB0BD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21767" y="1626180"/>
            <a:ext cx="721269" cy="721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24F52B9-E99A-FBC1-5C78-DEEBF4C0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34599" y="1880731"/>
            <a:ext cx="895608" cy="214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r</a:t>
            </a:r>
            <a:endParaRPr sz="10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5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6384B63C-C4AD-051E-C8B0-517C4DEE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8600" y="4798984"/>
            <a:ext cx="2622671" cy="1347283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D94D19C-F693-5F18-37E7-C30063D7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9682" y="5326016"/>
            <a:ext cx="2279199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Результат: растение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отделено от влаги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29CA29E-9A6F-2C39-7FC2-B1A625A0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9683" y="4958415"/>
            <a:ext cx="2279200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Зачем это нужно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47" name="Овал 46">
            <a:extLst xmlns:a="http://schemas.openxmlformats.org/drawingml/2006/main">
              <a:ext uri="{FF2B5EF4-FFF2-40B4-BE49-F238E27FC236}">
                <a16:creationId xmlns:a16="http://schemas.microsoft.com/office/drawing/2014/main" id="{5988A6F7-FFE3-B091-C782-468D584B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36" y="4667535"/>
            <a:ext cx="721269" cy="721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052BF64D-8786-505D-2290-81F8E144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3468" y="4922086"/>
            <a:ext cx="895608" cy="214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12 сут.</a:t>
            </a:r>
            <a:endParaRPr sz="10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7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492E67EB-030F-A540-A005-3F337B23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8600" y="3523779"/>
            <a:ext cx="3687433" cy="860104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BBB136-4EB9-CD8B-C03C-F194FFEB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4480" y="3860235"/>
            <a:ext cx="320451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Это настройка растительного блока,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не проверка влажности по Sentinel-1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4F58E4D-3132-29A2-CF0B-E33FB892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4482" y="3625559"/>
            <a:ext cx="3204518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Граница интерпретации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45" name="Овал 44">
            <a:extLst xmlns:a="http://schemas.openxmlformats.org/drawingml/2006/main">
              <a:ext uri="{FF2B5EF4-FFF2-40B4-BE49-F238E27FC236}">
                <a16:creationId xmlns:a16="http://schemas.microsoft.com/office/drawing/2014/main" id="{1C14481A-470C-94BB-8FF0-0B9EB6D8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8997" y="3376678"/>
            <a:ext cx="721269" cy="721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6FE0B59A-923D-2FE6-B110-CA165736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1827" y="3623220"/>
            <a:ext cx="895608" cy="214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FCOVER</a:t>
            </a:r>
            <a:endParaRPr sz="10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36660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B0FD12-6A0E-8B85-311F-0F9621A4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5820" y="1998849"/>
            <a:ext cx="1997263" cy="7617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M1</a:t>
            </a: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только FCOVER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RMSE 2,684 дБ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4" name="Овал 3">
            <a:extLst xmlns:a="http://schemas.openxmlformats.org/drawingml/2006/main">
              <a:ext uri="{FF2B5EF4-FFF2-40B4-BE49-F238E27FC236}">
                <a16:creationId xmlns:a16="http://schemas.microsoft.com/office/drawing/2014/main" id="{31495578-F3DD-A011-D3D4-C5FD9E1E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7823" y="1911796"/>
            <a:ext cx="935854" cy="9358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270AF87-6CD6-3F44-D789-1E32CFB7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680" y="2264628"/>
            <a:ext cx="1162061" cy="249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M1</a:t>
            </a:r>
            <a:endParaRPr sz="11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B3CF77-CC33-1C7C-6CCE-4B71AFC2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8824" y="3401826"/>
            <a:ext cx="1997263" cy="7617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M2</a:t>
            </a: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только влага 0–10 см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RMSE 2,608 дБ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9" name="Овал 8">
            <a:extLst xmlns:a="http://schemas.openxmlformats.org/drawingml/2006/main">
              <a:ext uri="{FF2B5EF4-FFF2-40B4-BE49-F238E27FC236}">
                <a16:creationId xmlns:a16="http://schemas.microsoft.com/office/drawing/2014/main" id="{94317713-92DE-EC3A-F1FF-1261C6A9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827" y="3314773"/>
            <a:ext cx="935854" cy="9358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E3B319D-5473-D7AD-BB49-94846B97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8684" y="3667605"/>
            <a:ext cx="1162061" cy="249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M2</a:t>
            </a:r>
            <a:endParaRPr sz="11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ADDE4D-1C81-2D41-4CF3-B5D8B6D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8926" y="4804803"/>
            <a:ext cx="1997263" cy="7617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M3</a:t>
            </a: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влага + FCOVER +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взаимодействие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3" name="Овал 12">
            <a:extLst xmlns:a="http://schemas.openxmlformats.org/drawingml/2006/main">
              <a:ext uri="{FF2B5EF4-FFF2-40B4-BE49-F238E27FC236}">
                <a16:creationId xmlns:a16="http://schemas.microsoft.com/office/drawing/2014/main" id="{0D6D032B-DF19-EBF3-4F74-DBD573FF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0929" y="4717750"/>
            <a:ext cx="935854" cy="9358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14A6E9-4E33-FA4D-BA39-BCE029A4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8786" y="5070582"/>
            <a:ext cx="1162061" cy="249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M3</a:t>
            </a:r>
            <a:endParaRPr sz="11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6F3296C-CE4E-A878-8B2B-6C428D03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8924" y="1998849"/>
            <a:ext cx="1997263" cy="7617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R²out</a:t>
            </a: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0,060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базовый вариант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7" name="Овал 16">
            <a:extLst xmlns:a="http://schemas.openxmlformats.org/drawingml/2006/main">
              <a:ext uri="{FF2B5EF4-FFF2-40B4-BE49-F238E27FC236}">
                <a16:creationId xmlns:a16="http://schemas.microsoft.com/office/drawing/2014/main" id="{768B73E2-18F2-26BB-4667-E998AEC9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20927" y="1911796"/>
            <a:ext cx="935854" cy="9358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3B056AA-B5AA-FDB5-2812-051A3AFE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8784" y="2264628"/>
            <a:ext cx="1162061" cy="249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0,060</a:t>
            </a:r>
            <a:endParaRPr sz="11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585752A-6D8E-9FD7-D614-9B463421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928" y="3401826"/>
            <a:ext cx="1997263" cy="7617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R²out</a:t>
            </a: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0,113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связь с влагой есть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1" name="Овал 20">
            <a:extLst xmlns:a="http://schemas.openxmlformats.org/drawingml/2006/main">
              <a:ext uri="{FF2B5EF4-FFF2-40B4-BE49-F238E27FC236}">
                <a16:creationId xmlns:a16="http://schemas.microsoft.com/office/drawing/2014/main" id="{4B60E7E6-9A5D-0D53-BCA1-241EE21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03931" y="3314773"/>
            <a:ext cx="935854" cy="9358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915193B-D685-DD44-8711-6C14D491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1788" y="3667605"/>
            <a:ext cx="1162061" cy="249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0,113</a:t>
            </a:r>
            <a:endParaRPr sz="11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E80CC8C-FA0E-7411-6400-FA1E482E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42030" y="4804803"/>
            <a:ext cx="1997263" cy="7617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R²out</a:t>
            </a: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0,137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>
              <a:spcBef>
                <a:spcPts val="300"/>
              </a:spcBef>
              <a:buNone/>
            </a:pPr>
            <a:r>
              <a:rPr sz="1100">
                <a:solidFill>
                  <a:srgbClr val="395BC4"/>
                </a:solidFill>
                <a:latin typeface="ALS Sector Regular"/>
                <a:ea typeface="ALS Sector Regular"/>
                <a:cs typeface="ALS Sector Regular"/>
              </a:rPr>
              <a:t>лучший результат</a:t>
            </a:r>
            <a:endParaRPr sz="11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5" name="Овал 24">
            <a:extLst xmlns:a="http://schemas.openxmlformats.org/drawingml/2006/main">
              <a:ext uri="{FF2B5EF4-FFF2-40B4-BE49-F238E27FC236}">
                <a16:creationId xmlns:a16="http://schemas.microsoft.com/office/drawing/2014/main" id="{0421990D-8A21-2DF4-259A-B2D3FF8F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4033" y="4717750"/>
            <a:ext cx="935854" cy="9358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0E3AF4-BFF4-EDB0-9137-03E5DCF2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1890" y="5070582"/>
            <a:ext cx="1162061" cy="249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0,137</a:t>
            </a:r>
            <a:endParaRPr sz="11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  <p:cxnSp>
        <p:nvCxnSpPr>
          <p:cNvPr id="73" name="Google Shape;422;g14739c8fea3_0_168"/>
          <p:cNvCxnSpPr/>
          <p:nvPr/>
        </p:nvCxnSpPr>
        <p:spPr>
          <a:xfrm xmlns:a="http://schemas.openxmlformats.org/drawingml/2006/main" flipV="1">
            <a:off x="4154831" y="1693962"/>
            <a:ext cx="0" cy="4939222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5797E42A-677A-3D4C-A281-ECB6C99F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08" y="544804"/>
            <a:ext cx="4574939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000" spc="3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Совместная модель лучше описывает VV на новых полях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B651CE5-447E-0AE2-49C8-CC9FF23D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21" y="1822951"/>
            <a:ext cx="6273052" cy="326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Bef>
                <a:spcPts val="200"/>
              </a:spcBef>
              <a:buNone/>
            </a:pPr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Межполевая проверка: R²out</a:t>
            </a:r>
            <a:endParaRPr sz="1400">
              <a:solidFill>
                <a:srgbClr val="A1A1A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graphicFrame>
        <p:nvGraphicFramePr>
          <p:cNvPr id="76" name="Chart 3"/>
          <p:cNvGraphicFramePr/>
          <p:nvPr/>
        </p:nvGraphicFramePr>
        <p:xfrm>
          <a:off xmlns:a="http://schemas.openxmlformats.org/drawingml/2006/main" x="283921" y="2376280"/>
          <a:ext xmlns:a="http://schemas.openxmlformats.org/drawingml/2006/main" cx="2501666" cy="347899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b7cfeba1e14228"/>
          </a:graphicData>
        </a:graphic>
      </p:graphicFrame>
    </p:spTree>
    <p:extLst>
      <p:ext uri="{BB962C8B-B14F-4D97-AF65-F5344CB8AC3E}">
        <p14:creationId xmlns:p14="http://schemas.microsoft.com/office/powerpoint/2010/main" val="2671973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FB521582-DCFA-CAE4-6F22-DFAFEB06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004" y="3523779"/>
            <a:ext cx="3687433" cy="860104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9EBCDAC-AEE5-88E8-3C3F-9104A87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84" y="3860235"/>
            <a:ext cx="320451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Spearman ΔVV–Δθ = 0,195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совпадение направления 57,6 %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FCD1D0A-919F-69A4-D09F-4C03BBBF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86" y="3625559"/>
            <a:ext cx="3204518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Изменения во времени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3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E1F50917-96C6-24BC-A19A-3412F2B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004" y="1761395"/>
            <a:ext cx="5545166" cy="1347283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F01C867-0767-124E-9D92-01AFDAA6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151" y="2288427"/>
            <a:ext cx="48189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медиана Spearman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ρ = 0,504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917517-CF32-E120-A224-5AA3EC74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153" y="1920826"/>
            <a:ext cx="4818958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Ранговая связь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6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634E1173-2999-9B73-21B6-3ACAF2D8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74" y="544804"/>
            <a:ext cx="4574939" cy="353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000" spc="3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Полевые признаки</a:t>
            </a:r>
          </a:p>
        </p:txBody>
      </p:sp>
      <p:sp>
        <p:nvSpPr>
          <p:cNvPr id="17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414298D1-E7A5-E014-FE3A-97C7FFBE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74" y="1090940"/>
            <a:ext cx="4574939" cy="318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pc="3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VV различает состояния</a:t>
            </a:r>
          </a:p>
        </p:txBody>
      </p:sp>
      <p:sp>
        <p:nvSpPr>
          <p:cNvPr id="19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A6B5F328-CF02-2936-7D86-B260ECDC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004" y="4798984"/>
            <a:ext cx="2622671" cy="1347283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47D4EC6-6D53-91D3-D06A-DE224036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086" y="5326016"/>
            <a:ext cx="2279199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P(VVвлажно &gt; VVсухо)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= 0,824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5131FA9-F518-6555-5B9A-165408B1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087" y="4958415"/>
            <a:ext cx="2279200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«Сухо–влажно»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1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7C0C7529-75C9-F2DD-4D2F-A85B9CB6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8600" y="1763590"/>
            <a:ext cx="5545166" cy="1347283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4601E31-CA91-B1F4-B822-15A808E9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747" y="2290622"/>
            <a:ext cx="48189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28 из 36 полей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ρ &gt; 0,4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EACFE02-6694-E808-2485-7D37CCF2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749" y="1923021"/>
            <a:ext cx="4818958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Повторяемость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8" name="Овал 37">
            <a:extLst xmlns:a="http://schemas.openxmlformats.org/drawingml/2006/main">
              <a:ext uri="{FF2B5EF4-FFF2-40B4-BE49-F238E27FC236}">
                <a16:creationId xmlns:a16="http://schemas.microsoft.com/office/drawing/2014/main" id="{561F09B3-AAD6-8997-CB73-AF9BB0BD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21767" y="1626180"/>
            <a:ext cx="721269" cy="721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24F52B9-E99A-FBC1-5C78-DEEBF4C0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34599" y="1880731"/>
            <a:ext cx="895608" cy="214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ρ</a:t>
            </a:r>
            <a:endParaRPr sz="10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5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6384B63C-C4AD-051E-C8B0-517C4DEE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8600" y="4798984"/>
            <a:ext cx="2622671" cy="1347283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D94D19C-F693-5F18-37E7-C30063D7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9682" y="5326016"/>
            <a:ext cx="2279199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Относительная динамика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подтверждается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29CA29E-9A6F-2C39-7FC2-B1A625A0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9683" y="4958415"/>
            <a:ext cx="2279200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Интерпретация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47" name="Овал 46">
            <a:extLst xmlns:a="http://schemas.openxmlformats.org/drawingml/2006/main">
              <a:ext uri="{FF2B5EF4-FFF2-40B4-BE49-F238E27FC236}">
                <a16:creationId xmlns:a16="http://schemas.microsoft.com/office/drawing/2014/main" id="{5988A6F7-FFE3-B091-C782-468D584B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36" y="4667535"/>
            <a:ext cx="721269" cy="721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052BF64D-8786-505D-2290-81F8E144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3468" y="4922086"/>
            <a:ext cx="895608" cy="214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28/36</a:t>
            </a:r>
            <a:endParaRPr sz="10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7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492E67EB-030F-A540-A005-3F337B23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8600" y="3523779"/>
            <a:ext cx="3687433" cy="860104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BBB136-4EB9-CD8B-C03C-F194FFEB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4480" y="3860235"/>
            <a:ext cx="32045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Это информативность относительной динамики,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а не калибровка абсолютной влажности</a:t>
            </a:r>
            <a:endParaRPr sz="12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4F58E4D-3132-29A2-CF0B-E33FB892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4482" y="3625559"/>
            <a:ext cx="3204518" cy="3368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76DEA"/>
                </a:solidFill>
                <a:latin typeface="ALS Sector Regular"/>
                <a:ea typeface="ALS Sector Regular"/>
                <a:cs typeface="ALS Sector Regular"/>
              </a:rPr>
              <a:t>Вывод</a:t>
            </a:r>
            <a:endParaRPr sz="1400">
              <a:solidFill>
                <a:srgbClr val="176DEA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45" name="Овал 44">
            <a:extLst xmlns:a="http://schemas.openxmlformats.org/drawingml/2006/main">
              <a:ext uri="{FF2B5EF4-FFF2-40B4-BE49-F238E27FC236}">
                <a16:creationId xmlns:a16="http://schemas.microsoft.com/office/drawing/2014/main" id="{1C14481A-470C-94BB-8FF0-0B9EB6D8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8997" y="3376678"/>
            <a:ext cx="721269" cy="721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5FE"/>
          </a:solidFill>
          <a:ln xmlns:a="http://schemas.openxmlformats.org/drawingml/2006/main" w="222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6FE0B59A-923D-2FE6-B110-CA165736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1827" y="3623220"/>
            <a:ext cx="895608" cy="214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2">
                    <a:lumMod val="10000"/>
                  </a:schemeClr>
                </a:solidFill>
                <a:latin typeface="ALS Sector Regular"/>
                <a:ea typeface="ALS Sector Regular"/>
                <a:cs typeface="ALS Sector Regular"/>
              </a:rPr>
              <a:t>Δ</a:t>
            </a:r>
            <a:endParaRPr sz="1000">
              <a:solidFill>
                <a:schemeClr val="tx2">
                  <a:lumMod val="10000"/>
                </a:schemeClr>
              </a:solidFill>
              <a:latin typeface="ALS Sector Regular"/>
              <a:ea typeface="ALS Sector Regular"/>
              <a:cs typeface="ALS Secto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36660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Параллелограмм 13">
            <a:extLst xmlns:a="http://schemas.openxmlformats.org/drawingml/2006/main">
              <a:ext uri="{FF2B5EF4-FFF2-40B4-BE49-F238E27FC236}">
                <a16:creationId xmlns:a16="http://schemas.microsoft.com/office/drawing/2014/main" id="{CFBC5AB2-1024-3A3C-6270-9ABB1655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14800" cy="6891867"/>
          </a:xfrm>
          <a:prstGeom xmlns:a="http://schemas.openxmlformats.org/drawingml/2006/main" prst="parallelogram">
            <a:avLst>
              <a:gd name="adj" fmla="val 0"/>
            </a:avLst>
          </a:prstGeom>
          <a:solidFill xmlns:a="http://schemas.openxmlformats.org/drawingml/2006/main">
            <a:srgbClr val="176D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0874E441-45AC-5068-85C2-E400F27B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37" y="562927"/>
            <a:ext cx="3739663" cy="738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lnSpc>
                <a:spcPct val="115000"/>
              </a:lnSpc>
              <a:buNone/>
              <a:defRPr sz="2000" spc="3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solidFill>
                  <a:schemeClr val="bg1"/>
                </a:solidFill>
              </a:rPr>
              <a:t>Вывод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solidFill>
                  <a:schemeClr val="bg1"/>
                </a:solidFill>
              </a:rPr>
              <a:t>и следующий этап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B43F5CF-DE6A-F746-68E7-12EC0447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37" y="1741224"/>
            <a:ext cx="1927192" cy="25017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600">
                <a:solidFill>
                  <a:schemeClr val="bg1"/>
                </a:solidFill>
                <a:latin typeface="ALS Sector Regular"/>
                <a:ea typeface="ALS Sector Regular"/>
                <a:cs typeface="ALS Sector Regular"/>
              </a:rPr>
              <a:t>Модель, ограниченная Sentinel-2, согласована с независимым Sentinel-1 по динамике приповерхностного водного состояния.</a:t>
            </a:r>
          </a:p>
        </p:txBody>
      </p:sp>
      <p:sp>
        <p:nvSpPr>
          <p:cNvPr id="13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9D1B7587-3C4E-6690-5B19-A0CCEFBD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6273" y="486063"/>
            <a:ext cx="3756638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lnSpc>
                <a:spcPct val="115000"/>
              </a:lnSpc>
              <a:buNone/>
              <a:defRPr sz="2000" spc="3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>
                <a:solidFill>
                  <a:srgbClr val="4169E2"/>
                </a:solidFill>
              </a:rPr>
              <a:t>Подтверждено</a:t>
            </a:r>
            <a:endParaRPr sz="1600">
              <a:solidFill>
                <a:srgbClr val="4169E2"/>
              </a:solidFill>
            </a:endParaRPr>
          </a:p>
        </p:txBody>
      </p:sp>
      <p:sp>
        <p:nvSpPr>
          <p:cNvPr id="18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DB4FDA57-61E7-9AB8-B6F4-AC00BB08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2747" y="849640"/>
            <a:ext cx="3071425" cy="1405827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93C8F5D-2935-CC32-3E45-975153CF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6273" y="1040036"/>
            <a:ext cx="2904371" cy="827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Совместный учёт влаги и FCOVER улучшает прогноз VV на новых полях</a:t>
            </a:r>
            <a:endParaRPr sz="14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2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35773324-E961-91D9-7F45-B59259AE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6273" y="2560037"/>
            <a:ext cx="3756638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lnSpc>
                <a:spcPct val="115000"/>
              </a:lnSpc>
              <a:buNone/>
              <a:defRPr sz="2000" spc="3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>
                <a:solidFill>
                  <a:srgbClr val="4169E2"/>
                </a:solidFill>
              </a:rPr>
              <a:t>Не утверждаем</a:t>
            </a:r>
            <a:endParaRPr sz="1600">
              <a:solidFill>
                <a:srgbClr val="4169E2"/>
              </a:solidFill>
            </a:endParaRPr>
          </a:p>
        </p:txBody>
      </p:sp>
      <p:sp>
        <p:nvSpPr>
          <p:cNvPr id="31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BE7C2838-B525-1256-26AB-C7B13E6D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2748" y="2923614"/>
            <a:ext cx="3071423" cy="1405827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rgbClr val="D4E5FE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D90775D-F015-471E-48B6-2D1862DF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5140" y="3109208"/>
            <a:ext cx="2669181" cy="827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Sentinel-1 не откалиброван здесь как прямое измерение абсолютной влажности</a:t>
            </a:r>
            <a:endParaRPr sz="14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37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B4F135CF-AE07-3086-A245-1C0030BB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6273" y="4634011"/>
            <a:ext cx="3756638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lnSpc>
                <a:spcPct val="115000"/>
              </a:lnSpc>
              <a:buNone/>
              <a:defRPr sz="2000" spc="3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>
                <a:solidFill>
                  <a:srgbClr val="4169E2"/>
                </a:solidFill>
              </a:rPr>
              <a:t>Следующий шаг</a:t>
            </a:r>
            <a:endParaRPr sz="1600">
              <a:solidFill>
                <a:srgbClr val="4169E2"/>
              </a:solidFill>
            </a:endParaRPr>
          </a:p>
        </p:txBody>
      </p:sp>
      <p:sp>
        <p:nvSpPr>
          <p:cNvPr id="39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11E33661-6CDA-15FC-2FAD-B2A24CDF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2747" y="4997588"/>
            <a:ext cx="3071423" cy="1405827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rgbClr val="176DEA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C42DCC8-D86B-E156-DE5C-013DDF48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4280" y="5183182"/>
            <a:ext cx="2669181" cy="827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bg1"/>
                </a:solidFill>
                <a:latin typeface="ALS Sector Regular"/>
                <a:ea typeface="ALS Sector Regular"/>
                <a:cs typeface="ALS Sector Regular"/>
              </a:rPr>
              <a:t>Проверка абсолютной влажности</a:t>
            </a:r>
            <a:endParaRPr sz="1400">
              <a:solidFill>
                <a:schemeClr val="bg1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bg1"/>
                </a:solidFill>
                <a:latin typeface="ALS Sector Regular"/>
                <a:ea typeface="ALS Sector Regular"/>
                <a:cs typeface="ALS Sector Regular"/>
              </a:rPr>
              <a:t>и профиля до 1 м</a:t>
            </a:r>
            <a:endParaRPr sz="1400">
              <a:solidFill>
                <a:schemeClr val="bg1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51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BAA19539-2D10-BFE5-6A26-21D43BA7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64947" y="849640"/>
            <a:ext cx="3071425" cy="1405827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B5011742-03D5-7E9D-B577-5121EA1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48473" y="1040036"/>
            <a:ext cx="2904371" cy="827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Воспроизводимая цепочка</a:t>
            </a:r>
            <a:endParaRPr sz="14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Sentinel-2 → модель → Sentinel-1</a:t>
            </a:r>
            <a:endParaRPr sz="14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56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7C6E7747-0389-73A8-0B3D-87970DDE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64948" y="2923614"/>
            <a:ext cx="3071423" cy="1405827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rgbClr val="D4E5FE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D7DB87B1-7280-168E-1643-4C1D3BE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7340" y="3109208"/>
            <a:ext cx="2669181" cy="827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Для абсолютной влажности нужны независимые наземные измерения</a:t>
            </a:r>
            <a:endParaRPr sz="14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61" name="Google Shape;82;p10">
            <a:extLst xmlns:a="http://schemas.openxmlformats.org/drawingml/2006/main">
              <a:ext uri="{FF2B5EF4-FFF2-40B4-BE49-F238E27FC236}">
                <a16:creationId xmlns:a16="http://schemas.microsoft.com/office/drawing/2014/main" id="{98C47DB0-B0C8-7B3F-5185-C6747CEF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64947" y="4997588"/>
            <a:ext cx="3071423" cy="1405827"/>
          </a:xfrm>
          <a:prstGeom xmlns:a="http://schemas.openxmlformats.org/drawingml/2006/main" prst="roundRect">
            <a:avLst>
              <a:gd name="adj" fmla="val 10217"/>
            </a:avLst>
          </a:prstGeom>
          <a:solidFill xmlns:a="http://schemas.openxmlformats.org/drawingml/2006/main">
            <a:srgbClr val="176DEA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xmlns:a="http://schemas.openxmlformats.org/drawingml/2006/main" spcFirstLastPara="1" wrap="square" lIns="90000" tIns="72000" rIns="72000" bIns="0" anchor="t">
            <a:noAutofit/>
          </a:bodyPr>
          <a:lstStyle xmlns:a="http://schemas.openxmlformats.org/drawingml/2006/main"/>
          <a:p xmlns:a="http://schemas.openxmlformats.org/drawingml/2006/main">
            <a:endParaRPr sz="100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6D1BFA0-2CFD-F13A-CD24-2515E92D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36480" y="5183182"/>
            <a:ext cx="2669181" cy="575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bg1"/>
                </a:solidFill>
                <a:latin typeface="ALS Sector Regular"/>
                <a:ea typeface="ALS Sector Regular"/>
                <a:cs typeface="ALS Sector Regular"/>
              </a:rPr>
              <a:t>Спасибо за внимание</a:t>
            </a:r>
            <a:endParaRPr sz="1400">
              <a:solidFill>
                <a:schemeClr val="bg1"/>
              </a:solidFill>
              <a:latin typeface="ALS Sector Regular"/>
              <a:ea typeface="ALS Sector Regular"/>
              <a:cs typeface="ALS Secto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09146314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2026-08-31T14:55:14.6840000Z</dcterms:created>
  <dcterms:modified xsi:type="dcterms:W3CDTF">2026-08-31T14:55:14.6840000Z</dcterms:modified>
</coreProperties>
</file>