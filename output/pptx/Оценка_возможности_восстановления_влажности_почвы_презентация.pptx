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5821a3e0624d38" /><Relationship Type="http://schemas.openxmlformats.org/officeDocument/2006/relationships/extended-properties" Target="/docProps/app.xml" Id="R8a1c50ae4c164b2d" /><Relationship Type="http://schemas.openxmlformats.org/officeDocument/2006/relationships/officeDocument" Target="/ppt/presentation.xml" Id="R96e1abf0b4e74f0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da75f7fc7764494"/>
  </p:sldMasterIdLst>
  <p:notesMasterIdLst>
    <p:notesMasterId xmlns:r="http://schemas.openxmlformats.org/officeDocument/2006/relationships" r:id="R5d043db6e78d4e86"/>
  </p:notesMasterIdLst>
  <p:sldIdLst>
    <p:sldId xmlns:r="http://schemas.openxmlformats.org/officeDocument/2006/relationships" id="256" r:id="R0ef57df46f98469c"/>
    <p:sldId xmlns:r="http://schemas.openxmlformats.org/officeDocument/2006/relationships" id="257" r:id="R76f73960f1d34a82"/>
    <p:sldId xmlns:r="http://schemas.openxmlformats.org/officeDocument/2006/relationships" id="258" r:id="R9815c2f0448a4348"/>
    <p:sldId xmlns:r="http://schemas.openxmlformats.org/officeDocument/2006/relationships" id="259" r:id="R27a32fa793eb4cbe"/>
    <p:sldId xmlns:r="http://schemas.openxmlformats.org/officeDocument/2006/relationships" id="260" r:id="R2b65922626e843af"/>
    <p:sldId xmlns:r="http://schemas.openxmlformats.org/officeDocument/2006/relationships" id="261" r:id="R1400c7c4f37d4751"/>
    <p:sldId xmlns:r="http://schemas.openxmlformats.org/officeDocument/2006/relationships" id="262" r:id="R1fa2d423e513406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d101b5a0074349" /><Relationship Type="http://schemas.openxmlformats.org/officeDocument/2006/relationships/slideMaster" Target="/ppt/slideMasters/slideMaster1.xml" Id="R4da75f7fc7764494" /><Relationship Type="http://schemas.openxmlformats.org/officeDocument/2006/relationships/notesMaster" Target="/ppt/notesMasters/notesMaster1.xml" Id="R5d043db6e78d4e86" /><Relationship Type="http://schemas.openxmlformats.org/officeDocument/2006/relationships/presProps" Target="/ppt/presProps.xml" Id="R26c1a2359f174517" /><Relationship Type="http://schemas.openxmlformats.org/officeDocument/2006/relationships/viewProps" Target="/ppt/viewProps.xml" Id="Rf6cfe6f5433e4d42" /><Relationship Type="http://schemas.openxmlformats.org/officeDocument/2006/relationships/tableStyles" Target="/ppt/tableStyles.xml" Id="R3dcb12ff371348e2" /><Relationship Type="http://schemas.openxmlformats.org/officeDocument/2006/relationships/slide" Target="/ppt/slides/slide1.xml" Id="R0ef57df46f98469c" /><Relationship Type="http://schemas.openxmlformats.org/officeDocument/2006/relationships/slide" Target="/ppt/slides/slide2.xml" Id="R76f73960f1d34a82" /><Relationship Type="http://schemas.openxmlformats.org/officeDocument/2006/relationships/slide" Target="/ppt/slides/slide3.xml" Id="R9815c2f0448a4348" /><Relationship Type="http://schemas.openxmlformats.org/officeDocument/2006/relationships/slide" Target="/ppt/slides/slide4.xml" Id="R27a32fa793eb4cbe" /><Relationship Type="http://schemas.openxmlformats.org/officeDocument/2006/relationships/slide" Target="/ppt/slides/slide5.xml" Id="R2b65922626e843af" /><Relationship Type="http://schemas.openxmlformats.org/officeDocument/2006/relationships/slide" Target="/ppt/slides/slide6.xml" Id="R1400c7c4f37d4751" /><Relationship Type="http://schemas.openxmlformats.org/officeDocument/2006/relationships/slide" Target="/ppt/slides/slide7.xml" Id="R1fa2d423e51340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f19d4e3d6d4a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4e27f6a8f584eed" /><Relationship Type="http://schemas.openxmlformats.org/officeDocument/2006/relationships/notesMaster" Target="/ppt/notesMasters/notesMaster1.xml" Id="Rf0155e6deb4440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205c7a57c94d53" /><Relationship Type="http://schemas.openxmlformats.org/officeDocument/2006/relationships/notesMaster" Target="/ppt/notesMasters/notesMaster1.xml" Id="Rc20b0613327848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f1fb4131904200" /><Relationship Type="http://schemas.openxmlformats.org/officeDocument/2006/relationships/notesMaster" Target="/ppt/notesMasters/notesMaster1.xml" Id="R4e524693ce084f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632297bbff647ad" /><Relationship Type="http://schemas.openxmlformats.org/officeDocument/2006/relationships/notesMaster" Target="/ppt/notesMasters/notesMaster1.xml" Id="Reb7fcba878be4a8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9b65e000b94549" /><Relationship Type="http://schemas.openxmlformats.org/officeDocument/2006/relationships/notesMaster" Target="/ppt/notesMasters/notesMaster1.xml" Id="Rb67619e4678d43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092048d44b41e9" /><Relationship Type="http://schemas.openxmlformats.org/officeDocument/2006/relationships/notesMaster" Target="/ppt/notesMasters/notesMaster1.xml" Id="R00b43cb9cc3640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09e53f1b9a2494e" /><Relationship Type="http://schemas.openxmlformats.org/officeDocument/2006/relationships/notesMaster" Target="/ppt/notesMasters/notesMaster1.xml" Id="Rb34890ef33a2499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тезисы: «Оценка возможности восстановления данных о влажности почвы…»,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Открытие: задача — проверить, согласуется ли независимый Sentinel-1 с расчётным приповерхностным водным состоянием.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Финальные тезисы, введение и обсуждение.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Ключевой тезис: мы не выдаём VV за прямое измерение влажности. Проверяем, даёт ли он независимое подтверждение расчётной динамики.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Документация проекта: docs/wiki/ARCHITECTURE.md, docs/wiki/PIPELINES.md; финальные тезисы; sp_full_experiment_protocol.json.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Архитектура: единственный пользовательский интерфейс — QGIS-плагин. Он связывает локальные пространственные и временные данные с PyQGIS/GDAL-сценариями и выдаёт слои, диаграммы и JSON-протокол.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sp_full_experiment_protocol.json: sentinel2_fcover и kornix_fcover_lag.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Лаг относится к визуальному сопоставлению кривых покрытия: модельная кривая показана на 12 суток правее. Это не изменяет исходные даты в рядах.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раздел «Результаты»; sp_full_experiment_protocol.json: sentinel1_validation, cross_validated_predictive_gain.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Главный результат — не абсолютное R², а устойчивый прирост M3 на полях, которые модель не видела. Прирост M3–M1: 0,078, bootstrap 95% CI 0,035…0,128.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раздел «Результаты»; sp_full_experiment_protocol.json: observability_analysis.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Эти показатели — дополнительная диагностика. Основное доказательство — межполевая проверка M1–M3 на предыдущем слайде.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заключение.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Закрытие: работа подтверждает необходимую предпосылку дальнейшей реконструкции. Для утверждений об абсолютной влажности и глубине до 1 м потребуются независимые наземные измерения.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2c0669ad5146c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c71320065a414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4340cdf07f434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dede72d80c45e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4658a776d54dd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2746a1c2fd467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ecfceed8b440b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cbb204256b412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d98352066241b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f976795f02438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2a0d557f0d45e8" /></Relationships>
</file>

<file path=ppt/slideLayouts/slideLayout1.xml><?xml version="1.0" encoding="utf-8"?>
<p:sldLayout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13379BA0-411E-A65B-876A-7611F71E373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Под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A7E0D2E3-37C1-D763-45E1-5611DCB1241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Образец подзаголовка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8BA40A64-28A0-00A1-D917-2A896022B5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C1DA8E28-A781-8F75-66B2-59F3125B83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F558D9E-7590-D7A8-4C58-D3A2D81C12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AB2ED183-9AEB-04E1-1030-33EF54C1D1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3E7279B3-8393-6458-8BB7-7ADA4E5B68A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C6C40523-4510-EF74-45EE-D22BB79AC3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18CB625F-5079-C90D-D8DF-CB7B60491A5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F8AA83B6-A404-5936-CC80-EC9668C5D7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4C1A509-87DC-767E-1832-C7CC363AA8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751884C6-3013-2458-0D68-A790216584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82003E16-5D83-7B39-5E7A-9F01AC18D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C7CCE9B-95D8-9316-C686-67A20911F8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8AC337C9-1926-3AED-110C-23634C2461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C82984E-EC5B-9060-A2BD-594795B099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2B929E23-65B3-BB1A-8057-C43A937AF86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8FBCA964-7517-C44F-4089-D73C8C9A48B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F1D9D7B3-96A9-1F31-FFD0-CED4EDBF80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C248DED3-81A7-C95A-C099-288A4C2E96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DBEE3D20-8724-FA65-EF34-BC2B1AD602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4D5074E-293E-3A76-CAC2-6C58941484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C44E037-C4FA-D65F-DD15-3EB27E8E36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E1D5DBB3-1C4A-34AF-0037-C7D147D1692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1D213FB-DBAC-11C6-C232-49F21D795CF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3A6A2461-D4A7-7991-4932-4BC08454C0A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" name="Дата 6">
            <a:extLst xmlns:a="http://schemas.openxmlformats.org/drawingml/2006/main">
              <a:ext uri="{FF2B5EF4-FFF2-40B4-BE49-F238E27FC236}">
                <a16:creationId xmlns:a16="http://schemas.microsoft.com/office/drawing/2014/main" id="{4503503A-4F0A-0B84-8B95-C5532231AA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8" name="Нижний колонтитул 7">
            <a:extLst xmlns:a="http://schemas.openxmlformats.org/drawingml/2006/main">
              <a:ext uri="{FF2B5EF4-FFF2-40B4-BE49-F238E27FC236}">
                <a16:creationId xmlns:a16="http://schemas.microsoft.com/office/drawing/2014/main" id="{F72E2AA5-B04B-511D-3F64-47B0E937A2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Номер слайда 8">
            <a:extLst xmlns:a="http://schemas.openxmlformats.org/drawingml/2006/main">
              <a:ext uri="{FF2B5EF4-FFF2-40B4-BE49-F238E27FC236}">
                <a16:creationId xmlns:a16="http://schemas.microsoft.com/office/drawing/2014/main" id="{E3BCC1A9-C078-D857-B6FC-D2BE7A492C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44877D4-61ED-5225-4B61-2CBCB01D3A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Дата 2">
            <a:extLst xmlns:a="http://schemas.openxmlformats.org/drawingml/2006/main">
              <a:ext uri="{FF2B5EF4-FFF2-40B4-BE49-F238E27FC236}">
                <a16:creationId xmlns:a16="http://schemas.microsoft.com/office/drawing/2014/main" id="{CD96CAC9-68A8-6AA1-1060-7FB102AFC4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4" name="Нижний колонтитул 3">
            <a:extLst xmlns:a="http://schemas.openxmlformats.org/drawingml/2006/main">
              <a:ext uri="{FF2B5EF4-FFF2-40B4-BE49-F238E27FC236}">
                <a16:creationId xmlns:a16="http://schemas.microsoft.com/office/drawing/2014/main" id="{69B4FA76-A58E-6266-E50F-6EE6783FD0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Номер слайда 4">
            <a:extLst xmlns:a="http://schemas.openxmlformats.org/drawingml/2006/main">
              <a:ext uri="{FF2B5EF4-FFF2-40B4-BE49-F238E27FC236}">
                <a16:creationId xmlns:a16="http://schemas.microsoft.com/office/drawing/2014/main" id="{D54F895F-D327-014B-C3DF-00E769390F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Дата 1">
            <a:extLst xmlns:a="http://schemas.openxmlformats.org/drawingml/2006/main">
              <a:ext uri="{FF2B5EF4-FFF2-40B4-BE49-F238E27FC236}">
                <a16:creationId xmlns:a16="http://schemas.microsoft.com/office/drawing/2014/main" id="{AB5F5DA4-954D-7489-7260-247E2261792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3" name="Нижний колонтитул 2">
            <a:extLst xmlns:a="http://schemas.openxmlformats.org/drawingml/2006/main">
              <a:ext uri="{FF2B5EF4-FFF2-40B4-BE49-F238E27FC236}">
                <a16:creationId xmlns:a16="http://schemas.microsoft.com/office/drawing/2014/main" id="{48D1EA36-18D0-FCE9-0CEB-63DC27AEE1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Номер слайда 3">
            <a:extLst xmlns:a="http://schemas.openxmlformats.org/drawingml/2006/main">
              <a:ext uri="{FF2B5EF4-FFF2-40B4-BE49-F238E27FC236}">
                <a16:creationId xmlns:a16="http://schemas.microsoft.com/office/drawing/2014/main" id="{48138B87-3BE8-E11A-4CA5-32AB35B129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B872561-52A2-5966-54B8-EEDDAEB382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20A797C-423C-AC6B-D4D5-A9A8E00A214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82BE570D-2BFC-B862-DCD3-1F1B707F335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0C8C0C96-5EA3-6E15-1B27-D078901888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818A6578-8C97-AD3E-6C9F-9C52222A92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3218E633-B5FC-2FB9-CCBB-E727CBD45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46DECCB-440D-BA77-A255-47BA24D552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01D359C9-E73A-60DA-395D-0BA533E81B1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E7F5D950-A285-52A7-3A70-B9D48FD5FD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BFE07823-E262-66FD-5E7C-73C2301256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9C19CEFE-2C72-7E64-ED66-D17D5B3318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4D100F73-52A0-70AA-D241-932B266396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A2BACE5-BB05-C3A5-DD41-1733373E76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Вертикальный текст 2">
            <a:extLst xmlns:a="http://schemas.openxmlformats.org/drawingml/2006/main">
              <a:ext uri="{FF2B5EF4-FFF2-40B4-BE49-F238E27FC236}">
                <a16:creationId xmlns:a16="http://schemas.microsoft.com/office/drawing/2014/main" id="{6BADC787-2CB8-7D05-7248-858F71956C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113BAE0B-13F0-64F1-931E-30D572758F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09F82812-101B-7090-50AB-7588FBD065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8C966155-AA2C-8FF1-D604-9C0D5E236D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Вертикальный 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FB54F11-0A84-1BDD-F8B1-4A6AB34072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Вертикальный текст 2">
            <a:extLst xmlns:a="http://schemas.openxmlformats.org/drawingml/2006/main">
              <a:ext uri="{FF2B5EF4-FFF2-40B4-BE49-F238E27FC236}">
                <a16:creationId xmlns:a16="http://schemas.microsoft.com/office/drawing/2014/main" id="{10E85FF9-1A4D-2103-8E70-27524A4F11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09F23D07-ACD4-B405-AC0F-BCC390067E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55CD1D5B-DEBA-3AA4-215A-3DDE741900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61AA6B24-E5D5-0134-836C-502AE8CBBB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c30d4903a841be" /><Relationship Type="http://schemas.openxmlformats.org/officeDocument/2006/relationships/slideLayout" Target="/ppt/slideLayouts/slideLayout1.xml" Id="R10bc2247322647ad" /><Relationship Type="http://schemas.openxmlformats.org/officeDocument/2006/relationships/slideLayout" Target="/ppt/slideLayouts/slideLayout2.xml" Id="R4c53724b22974057" /><Relationship Type="http://schemas.openxmlformats.org/officeDocument/2006/relationships/slideLayout" Target="/ppt/slideLayouts/slideLayout3.xml" Id="Rbbcc31337ced4a79" /><Relationship Type="http://schemas.openxmlformats.org/officeDocument/2006/relationships/slideLayout" Target="/ppt/slideLayouts/slideLayout4.xml" Id="R6fb9c4f2f1e449ee" /><Relationship Type="http://schemas.openxmlformats.org/officeDocument/2006/relationships/slideLayout" Target="/ppt/slideLayouts/slideLayout5.xml" Id="R8718f86cdbc043e7" /><Relationship Type="http://schemas.openxmlformats.org/officeDocument/2006/relationships/slideLayout" Target="/ppt/slideLayouts/slideLayout6.xml" Id="R024db7835cc6418e" /><Relationship Type="http://schemas.openxmlformats.org/officeDocument/2006/relationships/slideLayout" Target="/ppt/slideLayouts/slideLayout7.xml" Id="Re52c84997b3c44af" /><Relationship Type="http://schemas.openxmlformats.org/officeDocument/2006/relationships/slideLayout" Target="/ppt/slideLayouts/slideLayout8.xml" Id="Re4e1efd0fb4741af" /><Relationship Type="http://schemas.openxmlformats.org/officeDocument/2006/relationships/slideLayout" Target="/ppt/slideLayouts/slideLayout9.xml" Id="R3fdc17ab05714ded" /><Relationship Type="http://schemas.openxmlformats.org/officeDocument/2006/relationships/slideLayout" Target="/ppt/slideLayouts/slideLayout10.xml" Id="R11fbe3e1071f4dc9" /><Relationship Type="http://schemas.openxmlformats.org/officeDocument/2006/relationships/slideLayout" Target="/ppt/slideLayouts/slideLayout11.xml" Id="Rac004dcb42684a3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39B47216-A557-C48B-4C71-1A240DCE6F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0C322E18-8D58-0C66-D787-DB415C9907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90DDE747-9118-13EB-934F-B918F17AD3D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9205960-BE43-11EA-5C91-829BA1B3E3D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DE9CC4A4-F428-D59F-9C65-A877CAF52A4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1440" y="3246437"/>
            <a:ext cx="478536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bc2247322647ad"/>
    <p:sldLayoutId xmlns:r="http://schemas.openxmlformats.org/officeDocument/2006/relationships" id="2147483650" r:id="R4c53724b22974057"/>
    <p:sldLayoutId xmlns:r="http://schemas.openxmlformats.org/officeDocument/2006/relationships" id="2147483651" r:id="Rbbcc31337ced4a79"/>
    <p:sldLayoutId xmlns:r="http://schemas.openxmlformats.org/officeDocument/2006/relationships" id="2147483652" r:id="R6fb9c4f2f1e449ee"/>
    <p:sldLayoutId xmlns:r="http://schemas.openxmlformats.org/officeDocument/2006/relationships" id="2147483653" r:id="R8718f86cdbc043e7"/>
    <p:sldLayoutId xmlns:r="http://schemas.openxmlformats.org/officeDocument/2006/relationships" id="2147483654" r:id="R024db7835cc6418e"/>
    <p:sldLayoutId xmlns:r="http://schemas.openxmlformats.org/officeDocument/2006/relationships" id="2147483655" r:id="Re52c84997b3c44af"/>
    <p:sldLayoutId xmlns:r="http://schemas.openxmlformats.org/officeDocument/2006/relationships" id="2147483656" r:id="Re4e1efd0fb4741af"/>
    <p:sldLayoutId xmlns:r="http://schemas.openxmlformats.org/officeDocument/2006/relationships" id="2147483657" r:id="R3fdc17ab05714ded"/>
    <p:sldLayoutId xmlns:r="http://schemas.openxmlformats.org/officeDocument/2006/relationships" id="2147483658" r:id="R11fbe3e1071f4dc9"/>
    <p:sldLayoutId xmlns:r="http://schemas.openxmlformats.org/officeDocument/2006/relationships" id="2147483659" r:id="Rac004dcb42684a33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74517f7c32403e" /><Relationship Type="http://schemas.openxmlformats.org/officeDocument/2006/relationships/image" Target="/ppt/media/image.jpeg" Id="Rb1fdd4f9bf8144d7" /><Relationship Type="http://schemas.openxmlformats.org/officeDocument/2006/relationships/notesSlide" Target="/ppt/notesSlides/notesSlide1.xml" Id="R50858b6c179b43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89b908e61f4ef7" /><Relationship Type="http://schemas.openxmlformats.org/officeDocument/2006/relationships/notesSlide" Target="/ppt/notesSlides/notesSlide2.xml" Id="Rc7155ec799f74f2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3c0e419d3f4c9e" /><Relationship Type="http://schemas.openxmlformats.org/officeDocument/2006/relationships/notesSlide" Target="/ppt/notesSlides/notesSlide3.xml" Id="R21cf97dbb4f149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6e005354386411e" /><Relationship Type="http://schemas.openxmlformats.org/officeDocument/2006/relationships/notesSlide" Target="/ppt/notesSlides/notesSlide4.xml" Id="R6773fe00a5f24f8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31beb79c26542fe" /><Relationship Type="http://schemas.openxmlformats.org/officeDocument/2006/relationships/chart" Target="/ppt/slides/charts/chart1.xml" Id="R1d1a8a54676e4ea7" /><Relationship Type="http://schemas.openxmlformats.org/officeDocument/2006/relationships/notesSlide" Target="/ppt/notesSlides/notesSlide5.xml" Id="R5210297890684a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7df3866d34f45fe" /><Relationship Type="http://schemas.openxmlformats.org/officeDocument/2006/relationships/notesSlide" Target="/ppt/notesSlides/notesSlide6.xml" Id="R8c39624226974c2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665eb42ee84360" /><Relationship Type="http://schemas.openxmlformats.org/officeDocument/2006/relationships/notesSlide" Target="/ppt/notesSlides/notesSlide7.xml" Id="Rbcc04e84cb7b4817" /></Relationships>
</file>

<file path=ppt/slides/charts/chart1.xml><?xml version="1.0" encoding="utf-8"?>
<c:chartSpace xmlns:mc="http://schemas.openxmlformats.org/markup-compatibility/2006" xmlns:c14="http://schemas.microsoft.com/office/drawing/2007/8/2/chart" xmlns:c="http://schemas.openxmlformats.org/drawingml/2006/chart" mc:Ignorable="c14">
  <c:lang val="en-US"/>
  <c:roundedCorners val="0"/>
  <mc:AlternateContent>
    <mc:Choice Requires="c14">
      <c14:style val="102"/>
    </mc:Choice>
    <mc:Fallback>
      <c:style val="2"/>
    </mc:Fallback>
  </mc:AlternateContent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R²out</a:t>
            </a:r>
          </a:p>
        </c:rich>
      </c:tx>
      <c:overlay val="0"/>
    </c:title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 xmlns:a="http://schemas.openxmlformats.org/drawingml/2006/main">
              <a:srgbClr val="2176E5"/>
            </a:solidFill>
            <a:ln xmlns:a="http://schemas.openxmlformats.org/drawingml/2006/main">
              <a:noFill/>
            </a:ln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000" b="0" i="0" u="none">
                    <a:solidFill>
                      <a:srgbClr val="434343"/>
                    </a:solidFill>
                    <a:latin typeface="ALS Sector Regular"/>
                    <a:ea typeface="ALS Sector Regular"/>
                    <a:cs typeface="ALS Sector Regular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M1</c:v>
                </c:pt>
                <c:pt idx="1">
                  <c:v>M2</c:v>
                </c:pt>
                <c:pt idx="2">
                  <c:v>M3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0.06</c:v>
                </c:pt>
                <c:pt idx="1">
                  <c:v>0.113</c:v>
                </c:pt>
                <c:pt idx="2">
                  <c:v>0.137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D355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5"/>
        <c:axId val="231040959"/>
        <c:axId val="230925407"/>
      </c:barChart>
      <c:catAx>
        <c:axId val="231040959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 cmpd="sng">
            <a:noFill/>
          </a:ln>
        </c:spPr>
        <c:txPr>
          <a:bodyPr xmlns:a="http://schemas.openxmlformats.org/drawingml/2006/main" rot="-60000000" spcFirstLastPara="1" vert="horz" wrap="square" anchor="ctr" anchorCtr="1"/>
          <a:lstStyle xmlns:a="http://schemas.openxmlformats.org/drawingml/2006/main"/>
          <a:p xmlns:a="http://schemas.openxmlformats.org/drawingml/2006/main">
            <a:pPr>
              <a:defRPr sz="1000" b="0" i="0" u="none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pPr>
          </a:p>
        </c:txPr>
        <c:crossAx val="230925407"/>
        <c:crosses val="autoZero"/>
        <c:lblOffset val="100"/>
      </c:catAx>
      <c:valAx>
        <c:axId val="230925407"/>
        <c:scaling>
          <c:orientation val="minMax"/>
          <c:max val="0.16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9E4F5"/>
              </a:solidFill>
              <a:prstDash val="solid"/>
            </a:ln>
          </c:spPr>
        </c:majorGridlines>
        <c:numFmt formatCode="0.00" sourceLinked="1"/>
        <c:majorTickMark val="out"/>
        <c:minorTickMark val="none"/>
        <c:tickLblPos val="nextTo"/>
        <c:crossAx val="231040959"/>
        <c:crosses val="autoZero"/>
        <c:crossBetween val="between"/>
        <c:majorUnit val="0.04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1fdd4f9bf8144d7">
            <a:lum/>
          </a:blip>
          <a:srcRect l="0" t="0" r="0" b="0"/>
          <a:tile tx="0" ty="0" sx="100000" sy="100000" flip="none" algn="tl"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A4FB85EC-22E5-F140-9E45-1A18C489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4" y="2863768"/>
            <a:ext cx="11211339" cy="11304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0141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54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Оценка влажности почвы</a:t>
            </a:r>
          </a:p>
          <a:p xmlns:a="http://schemas.openxmlformats.org/drawingml/2006/main">
            <a:r>
              <a:rPr sz="54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по модели и данным Sentinel-1/2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671ED838-C5F8-5BF8-527C-4FB20A96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6" y="6079140"/>
            <a:ext cx="5316372" cy="4001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Clr>
                <a:srgbClr val="176DEA"/>
              </a:buClr>
              <a:buNone/>
            </a:pPr>
            <a:r>
              <a:rPr sz="2000">
                <a:solidFill>
                  <a:schemeClr val="bg1">
                    <a:alpha val="50000"/>
                  </a:schemeClr>
                </a:solidFill>
                <a:latin typeface="ALS Sector Regular"/>
                <a:ea typeface="ALS Sector Regular"/>
                <a:cs typeface="ALS Sector Regular"/>
              </a:rPr>
              <a:t>2026</a:t>
            </a:r>
          </a:p>
        </p:txBody>
      </p:sp>
      <p:sp>
        <p:nvSpPr>
          <p:cNvPr id="8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AC25DA0-FB7B-F5ED-1652-54BE4C90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3" y="378750"/>
            <a:ext cx="11211339" cy="653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20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МГТУ им. Н.Э. Баумана · кафедра ИУ5</a:t>
            </a:r>
          </a:p>
          <a:p xmlns:a="http://schemas.openxmlformats.org/drawingml/2006/main">
            <a:r>
              <a:rPr sz="20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Корнеев Григорий Ильич · ИУ5-34Б</a:t>
            </a:r>
          </a:p>
        </p:txBody>
      </p:sp>
    </p:spTree>
    <p:extLst>
      <p:ext uri="{BB962C8B-B14F-4D97-AF65-F5344CB8AC3E}">
        <p14:creationId xmlns:p14="http://schemas.microsoft.com/office/powerpoint/2010/main" val="413460154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DCF96FA-98E6-E2E9-FEA8-646100BD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66944" y="133350"/>
            <a:ext cx="6782401" cy="659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Под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AE51AFE0-E498-130B-EF2F-85CF4E00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81527" y="2995630"/>
            <a:ext cx="5390784" cy="8898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sz="2200">
                <a:solidFill>
                  <a:schemeClr val="accent1">
                    <a:lumMod val="60000"/>
                    <a:lumOff val="40000"/>
                  </a:schemeClr>
                </a:solidFill>
                <a:latin typeface="ALS Sector Regular"/>
                <a:ea typeface="ALS Sector Regular"/>
                <a:cs typeface="ALS Sector Regular"/>
              </a:rPr>
              <a:t>Проверяем не калибровку влажности,</a:t>
            </a:r>
          </a:p>
          <a:p xmlns:a="http://schemas.openxmlformats.org/drawingml/2006/main">
            <a:r>
              <a:rPr sz="2200">
                <a:solidFill>
                  <a:schemeClr val="accent1">
                    <a:lumMod val="60000"/>
                    <a:lumOff val="40000"/>
                  </a:schemeClr>
                </a:solidFill>
                <a:latin typeface="ALS Sector Regular"/>
                <a:ea typeface="ALS Sector Regular"/>
                <a:cs typeface="ALS Sector Regular"/>
              </a:rPr>
              <a:t>а независимую согласованность</a:t>
            </a:r>
          </a:p>
          <a:p xmlns:a="http://schemas.openxmlformats.org/drawingml/2006/main">
            <a:r>
              <a:rPr sz="2200">
                <a:solidFill>
                  <a:schemeClr val="accent1">
                    <a:lumMod val="60000"/>
                    <a:lumOff val="40000"/>
                  </a:schemeClr>
                </a:solidFill>
                <a:latin typeface="ALS Sector Regular"/>
                <a:ea typeface="ALS Sector Regular"/>
                <a:cs typeface="ALS Sector Regular"/>
              </a:rPr>
              <a:t>расчётной динамики и радара</a:t>
            </a:r>
          </a:p>
        </p:txBody>
      </p:sp>
      <p:sp>
        <p:nvSpPr>
          <p:cNvPr id="8" name="Параллелограмм 7">
            <a:extLst xmlns:a="http://schemas.openxmlformats.org/drawingml/2006/main">
              <a:ext uri="{FF2B5EF4-FFF2-40B4-BE49-F238E27FC236}">
                <a16:creationId xmlns:a16="http://schemas.microsoft.com/office/drawing/2014/main" id="{E005804D-EB41-1E7D-1243-9F7DCAE9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45122" y="-887968"/>
            <a:ext cx="9386048" cy="81153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B45E0E9-3513-5531-CB1D-AB5ABE2ED50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705459" y="1032693"/>
            <a:ext cx="4384451" cy="1749826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Проблема и гипотеза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0D6B226-5CF2-C6D3-2EA7-19321638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9230" y="-2543175"/>
            <a:ext cx="184731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cxnSp>
        <p:nvCxnSpPr>
          <p:cNvPr id="34" name="Google Shape;55;p2"/>
          <p:cNvCxnSpPr/>
          <p:nvPr/>
        </p:nvCxnSpPr>
        <p:spPr>
          <a:xfrm xmlns:a="http://schemas.openxmlformats.org/drawingml/2006/main" rot="0" flipH="0" flipV="0">
            <a:off x="762431" y="3245219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Google Shape;56;p2">
            <a:extLst xmlns:a="http://schemas.openxmlformats.org/drawingml/2006/main">
              <a:ext uri="{FF2B5EF4-FFF2-40B4-BE49-F238E27FC236}">
                <a16:creationId xmlns:a16="http://schemas.microsoft.com/office/drawing/2014/main" id="{0D2B7FCE-1825-555F-2617-815091C0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50394" y="2979762"/>
            <a:ext cx="2816400" cy="530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VV смешивает два фактора</a:t>
            </a:r>
          </a:p>
        </p:txBody>
      </p:sp>
      <p:cxnSp>
        <p:nvCxnSpPr>
          <p:cNvPr id="36" name="Google Shape;57;p2"/>
          <p:cNvCxnSpPr/>
          <p:nvPr/>
        </p:nvCxnSpPr>
        <p:spPr>
          <a:xfrm xmlns:a="http://schemas.openxmlformats.org/drawingml/2006/main" rot="0" flipH="0" flipV="0">
            <a:off x="762431" y="442944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" name="Google Shape;58;p2">
            <a:extLst xmlns:a="http://schemas.openxmlformats.org/drawingml/2006/main">
              <a:ext uri="{FF2B5EF4-FFF2-40B4-BE49-F238E27FC236}">
                <a16:creationId xmlns:a16="http://schemas.microsoft.com/office/drawing/2014/main" id="{60E977CA-9238-0EE4-5E5E-DD69ED3C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50394" y="4287097"/>
            <a:ext cx="2816400" cy="52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FCOVER выделяет растительность</a:t>
            </a:r>
          </a:p>
        </p:txBody>
      </p:sp>
      <p:cxnSp>
        <p:nvCxnSpPr>
          <p:cNvPr id="38" name="Google Shape;59;p2"/>
          <p:cNvCxnSpPr/>
          <p:nvPr/>
        </p:nvCxnSpPr>
        <p:spPr>
          <a:xfrm xmlns:a="http://schemas.openxmlformats.org/drawingml/2006/main" rot="0" flipH="0" flipV="0">
            <a:off x="755091" y="502155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60;p2">
            <a:extLst xmlns:a="http://schemas.openxmlformats.org/drawingml/2006/main">
              <a:ext uri="{FF2B5EF4-FFF2-40B4-BE49-F238E27FC236}">
                <a16:creationId xmlns:a16="http://schemas.microsoft.com/office/drawing/2014/main" id="{4772CD6F-99B4-268C-5DCF-BFA1F107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43054" y="4879209"/>
            <a:ext cx="2816400" cy="2846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Гипотеза: VV отражает θ0–10</a:t>
            </a:r>
          </a:p>
        </p:txBody>
      </p:sp>
      <p:cxnSp>
        <p:nvCxnSpPr>
          <p:cNvPr id="40" name="Google Shape;55;p2"/>
          <p:cNvCxnSpPr/>
          <p:nvPr/>
        </p:nvCxnSpPr>
        <p:spPr>
          <a:xfrm xmlns:a="http://schemas.openxmlformats.org/drawingml/2006/main" rot="0" flipH="0" flipV="0">
            <a:off x="755091" y="3837331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56;p2">
            <a:extLst xmlns:a="http://schemas.openxmlformats.org/drawingml/2006/main">
              <a:ext uri="{FF2B5EF4-FFF2-40B4-BE49-F238E27FC236}">
                <a16:creationId xmlns:a16="http://schemas.microsoft.com/office/drawing/2014/main" id="{E74035EC-4385-4B06-B945-D912BB10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43054" y="3694985"/>
            <a:ext cx="2816400" cy="52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Прямая влажность недоступна</a:t>
            </a:r>
          </a:p>
        </p:txBody>
      </p:sp>
    </p:spTree>
    <p:extLst>
      <p:ext uri="{BB962C8B-B14F-4D97-AF65-F5344CB8AC3E}">
        <p14:creationId xmlns:p14="http://schemas.microsoft.com/office/powerpoint/2010/main" val="18558702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FB7721B3-9A7B-E718-ACD8-013893BB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08" y="544804"/>
            <a:ext cx="4574939" cy="3539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Архитектура ИС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69C84B-131E-ACC0-F989-95E2794D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1738488"/>
            <a:ext cx="2692352" cy="625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Контуры полей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Sentinel-1 / Sentinel-2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суточные ряды модели</a:t>
            </a:r>
          </a:p>
        </p:txBody>
      </p:sp>
      <p:sp>
        <p:nvSpPr>
          <p:cNvPr id="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3FFFB774-4DEE-3FB3-D502-F89B5431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1407790"/>
            <a:ext cx="4574939" cy="283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Входы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9800EDF-F699-A274-D060-836790F7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2885745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Плагин QGIS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запуск сценариев и просмотр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D4D0ECA-0A72-9D4F-D064-321DF8D8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2604291"/>
            <a:ext cx="2692352" cy="2432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Интерфейс</a:t>
            </a:r>
          </a:p>
        </p:txBody>
      </p:sp>
      <p:cxnSp>
        <p:nvCxnSpPr>
          <p:cNvPr id="43" name="Google Shape;422;g14739c8fea3_0_168"/>
          <p:cNvCxnSpPr/>
          <p:nvPr/>
        </p:nvCxnSpPr>
        <p:spPr>
          <a:xfrm xmlns:a="http://schemas.openxmlformats.org/drawingml/2006/main" flipV="1">
            <a:off x="8538572" y="1407790"/>
            <a:ext cx="0" cy="4939222"/>
          </a:xfrm>
          <a:prstGeom xmlns:a="http://schemas.openxmlformats.org/drawingml/2006/main" prst="straightConnector1">
            <a:avLst/>
          </a:prstGeom>
          <a:ln xmlns:a="http://schemas.openxmlformats.org/drawingml/2006/main" w="15875" cap="flat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58A4346-1888-3C94-0B69-7AF09ABE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1738488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PyQGIS / GDAL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расчёты и аналитические сценарии</a:t>
            </a:r>
          </a:p>
        </p:txBody>
      </p:sp>
      <p:sp>
        <p:nvSpPr>
          <p:cNvPr id="21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8F9A23EF-E6AB-D44C-5C29-7E2D100C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1407790"/>
            <a:ext cx="4574939" cy="283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Обработка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982D219-1D16-A9C7-6B34-20A576E1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2885745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Слои и карты QGIS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диаграммы и JSON-протокол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6D796B6-19A4-DBB2-22E9-A442DC2D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2604291"/>
            <a:ext cx="2692352" cy="2432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Выходы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C4749C-BD68-46D3-8E02-F6BFE6C0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B8A9AF-E9D3-45BB-86DA-330ADE75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2C49B8-45C2-40E1-9CFA-8C3A92FBD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8E7C64-9E77-4A3E-93F5-A169E70A7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Данные</a:t>
            </a:r>
          </a:p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слои и временные ряды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29D5CC-3E83-40F4-990F-7CCF0528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Модуль QGIS</a:t>
            </a:r>
          </a:p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кнопки и просмотр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FDD2C4-BB10-432A-A9FE-96248B12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Сценарии</a:t>
            </a:r>
          </a:p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расчёт и анализ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4457040-D5F4-4C06-8E68-B6F35CA1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216FE8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Результаты</a:t>
            </a:r>
          </a:p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карты, графики, JSON</a:t>
            </a:r>
          </a:p>
        </p:txBody>
      </p:sp>
    </p:spTree>
    <p:extLst>
      <p:ext uri="{BB962C8B-B14F-4D97-AF65-F5344CB8AC3E}">
        <p14:creationId xmlns:p14="http://schemas.microsoft.com/office/powerpoint/2010/main" val="35964818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FB521582-DCFA-CAE4-6F22-DFAFEB06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9EBCDAC-AEE5-88E8-3C3F-9104A87B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4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около 12 суток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кривая модели сдвигается вправо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CD1D0A-919F-69A4-D09F-4C03BBBF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6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Лаг покрытия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E1F50917-96C6-24BC-A19A-3412F2B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1761395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F01C867-0767-124E-9D92-01AFDAA6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1" y="2288427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 = 0,763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 = 0,583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4917517-CF32-E120-A224-5AA3EC74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3" y="1920826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Связь рядов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634E1173-2999-9B73-21B6-3ACAF2D8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544804"/>
            <a:ext cx="4574939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FCOVER ограничивает модель</a:t>
            </a:r>
          </a:p>
        </p:txBody>
      </p:sp>
      <p:sp>
        <p:nvSpPr>
          <p:cNvPr id="1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414298D1-E7A5-E014-FE3A-97C7FFBE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1090940"/>
            <a:ext cx="4574939" cy="6309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Проверка выполнена до Sentinel-1</a:t>
            </a:r>
          </a:p>
        </p:txBody>
      </p:sp>
      <p:sp>
        <p:nvSpPr>
          <p:cNvPr id="1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A6B5F328-CF02-2936-7D86-B260ECDC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47D4EC6-6D53-91D3-D06A-DE224036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6" y="5326016"/>
            <a:ext cx="2279199" cy="7223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Sentinel-2 фиксирует сезонную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динамику растительности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5131FA9-F518-6555-5B9A-165408B1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7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Смысл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0C7529-75C9-F2DD-4D2F-A85B9CB6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1763590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4601E31-CA91-B1F4-B822-15A808E9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7" y="2290622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медиана r = 0,944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34 из 36 связей положительные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EACFE02-6694-E808-2485-7D37CCF2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9" y="1923021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Внутри полей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8" name="Овал 37">
            <a:extLst xmlns:a="http://schemas.openxmlformats.org/drawingml/2006/main">
              <a:ext uri="{FF2B5EF4-FFF2-40B4-BE49-F238E27FC236}">
                <a16:creationId xmlns:a16="http://schemas.microsoft.com/office/drawing/2014/main" id="{561F09B3-AAD6-8997-CB73-AF9BB0BD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21767" y="1626180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224F52B9-E99A-FBC1-5C78-DEEBF4C0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34599" y="1880731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r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5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6384B63C-C4AD-051E-C8B0-517C4DEE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D94D19C-F693-5F18-37E7-C30063D7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2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Результат: растение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отделено от влаги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929CA29E-9A6F-2C39-7FC2-B1A625A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3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Зачем это нужно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7" name="Овал 46">
            <a:extLst xmlns:a="http://schemas.openxmlformats.org/drawingml/2006/main">
              <a:ext uri="{FF2B5EF4-FFF2-40B4-BE49-F238E27FC236}">
                <a16:creationId xmlns:a16="http://schemas.microsoft.com/office/drawing/2014/main" id="{5988A6F7-FFE3-B091-C782-468D584B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10636" y="4667535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52BF64D-8786-505D-2290-81F8E144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23468" y="4922086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12 сут.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7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492E67EB-030F-A540-A005-3F337B23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15BBB136-4EB9-CD8B-C03C-F194FFEB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0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Это настройка растительного блока,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не проверка влажности по Sentinel-1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4F58E4D-3132-29A2-CF0B-E33FB892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2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Граница интерпретации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5" name="Овал 44">
            <a:extLst xmlns:a="http://schemas.openxmlformats.org/drawingml/2006/main">
              <a:ext uri="{FF2B5EF4-FFF2-40B4-BE49-F238E27FC236}">
                <a16:creationId xmlns:a16="http://schemas.microsoft.com/office/drawing/2014/main" id="{1C14481A-470C-94BB-8FF0-0B9EB6D8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8997" y="3376678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6FE0B59A-923D-2FE6-B110-CA165736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51827" y="3623220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FCOVER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41366603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3B0FD12-6A0E-8B85-311F-0F9621A4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55820" y="1998849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M1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только FCOVER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RMSE 2,684 дБ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" name="Овал 3">
            <a:extLst xmlns:a="http://schemas.openxmlformats.org/drawingml/2006/main">
              <a:ext uri="{FF2B5EF4-FFF2-40B4-BE49-F238E27FC236}">
                <a16:creationId xmlns:a16="http://schemas.microsoft.com/office/drawing/2014/main" id="{31495578-F3DD-A011-D3D4-C5FD9E1E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07823" y="1911796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270AF87-6CD6-3F44-D789-1E32CFB7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95680" y="2264628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M1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3B3CF77-CC33-1C7C-6CCE-4B71AFC2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8824" y="3401826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M2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только влага 0–10 см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RMSE 2,608 дБ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Овал 8">
            <a:extLst xmlns:a="http://schemas.openxmlformats.org/drawingml/2006/main">
              <a:ext uri="{FF2B5EF4-FFF2-40B4-BE49-F238E27FC236}">
                <a16:creationId xmlns:a16="http://schemas.microsoft.com/office/drawing/2014/main" id="{94317713-92DE-EC3A-F1FF-1261C6A9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90827" y="3314773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E3B319D-5473-D7AD-BB49-94846B97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78684" y="3667605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M2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2ADDE4D-1C81-2D41-4CF3-B5D8B6D1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8926" y="4804803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M3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влага + FCOVER +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взаимодействие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Овал 12">
            <a:extLst xmlns:a="http://schemas.openxmlformats.org/drawingml/2006/main">
              <a:ext uri="{FF2B5EF4-FFF2-40B4-BE49-F238E27FC236}">
                <a16:creationId xmlns:a16="http://schemas.microsoft.com/office/drawing/2014/main" id="{0D6D032B-DF19-EBF3-4F74-DBD573FF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80929" y="4717750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014A6E9-4E33-FA4D-BA39-BCE029A4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68786" y="5070582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M3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6F3296C-CE4E-A878-8B2B-6C428D03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68924" y="1998849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0,060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базовый вариант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7" name="Овал 16">
            <a:extLst xmlns:a="http://schemas.openxmlformats.org/drawingml/2006/main">
              <a:ext uri="{FF2B5EF4-FFF2-40B4-BE49-F238E27FC236}">
                <a16:creationId xmlns:a16="http://schemas.microsoft.com/office/drawing/2014/main" id="{768B73E2-18F2-26BB-4667-E998AEC9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20927" y="1911796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3B056AA-B5AA-FDB5-2812-051A3AFE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08784" y="2264628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0,060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585752A-6D8E-9FD7-D614-9B463421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1928" y="3401826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0,113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связь с влагой есть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Овал 20">
            <a:extLst xmlns:a="http://schemas.openxmlformats.org/drawingml/2006/main">
              <a:ext uri="{FF2B5EF4-FFF2-40B4-BE49-F238E27FC236}">
                <a16:creationId xmlns:a16="http://schemas.microsoft.com/office/drawing/2014/main" id="{4B60E7E6-9A5D-0D53-BCA1-241EE216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03931" y="3314773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915193B-D685-DD44-8711-6C14D491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91788" y="3667605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0,113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E80CC8C-FA0E-7411-6400-FA1E482E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42030" y="4804803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0,137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лучший результат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5" name="Овал 24">
            <a:extLst xmlns:a="http://schemas.openxmlformats.org/drawingml/2006/main">
              <a:ext uri="{FF2B5EF4-FFF2-40B4-BE49-F238E27FC236}">
                <a16:creationId xmlns:a16="http://schemas.microsoft.com/office/drawing/2014/main" id="{0421990D-8A21-2DF4-259A-B2D3FF8F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94033" y="4717750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0E3AF4-BFF4-EDB0-9137-03E5DCF2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81890" y="5070582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0,137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cxnSp>
        <p:nvCxnSpPr>
          <p:cNvPr id="73" name="Google Shape;422;g14739c8fea3_0_168"/>
          <p:cNvCxnSpPr/>
          <p:nvPr/>
        </p:nvCxnSpPr>
        <p:spPr>
          <a:xfrm xmlns:a="http://schemas.openxmlformats.org/drawingml/2006/main" flipV="1">
            <a:off x="4154831" y="1693962"/>
            <a:ext cx="0" cy="4939222"/>
          </a:xfrm>
          <a:prstGeom xmlns:a="http://schemas.openxmlformats.org/drawingml/2006/main" prst="straightConnector1">
            <a:avLst/>
          </a:prstGeom>
          <a:ln xmlns:a="http://schemas.openxmlformats.org/drawingml/2006/main" w="15875" cap="flat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5797E42A-677A-3D4C-A281-ECB6C99F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08" y="544804"/>
            <a:ext cx="4574939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Совместная модель лучше описывает VV на новых полях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B651CE5-447E-0AE2-49C8-CC9FF23D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921" y="1822951"/>
            <a:ext cx="6273052" cy="3261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spcBef>
                <a:spcPts val="200"/>
              </a:spcBef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Межполевая проверка: R²out</a:t>
            </a:r>
            <a:endParaRPr sz="14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graphicFrame>
        <p:nvGraphicFramePr>
          <p:cNvPr id="76" name="Chart 3"/>
          <p:cNvGraphicFramePr/>
          <p:nvPr/>
        </p:nvGraphicFramePr>
        <p:xfrm>
          <a:off xmlns:a="http://schemas.openxmlformats.org/drawingml/2006/main" x="283921" y="2376280"/>
          <a:ext xmlns:a="http://schemas.openxmlformats.org/drawingml/2006/main" cx="2501666" cy="3478994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d1a8a54676e4ea7"/>
          </a:graphicData>
        </a:graphic>
      </p:graphicFrame>
    </p:spTree>
    <p:extLst>
      <p:ext uri="{BB962C8B-B14F-4D97-AF65-F5344CB8AC3E}">
        <p14:creationId xmlns:p14="http://schemas.microsoft.com/office/powerpoint/2010/main" val="26719739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FB521582-DCFA-CAE4-6F22-DFAFEB06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9EBCDAC-AEE5-88E8-3C3F-9104A87B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4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Spearman ΔVV–Δθ = 0,195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совпадение направления 57,6 %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CD1D0A-919F-69A4-D09F-4C03BBBF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6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Изменения во времени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E1F50917-96C6-24BC-A19A-3412F2B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1761395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F01C867-0767-124E-9D92-01AFDAA6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1" y="2288427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медиана Spearman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ρ = 0,504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4917517-CF32-E120-A224-5AA3EC74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3" y="1920826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Ранговая связь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634E1173-2999-9B73-21B6-3ACAF2D8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544804"/>
            <a:ext cx="4574939" cy="3539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Полевые признаки</a:t>
            </a:r>
          </a:p>
        </p:txBody>
      </p:sp>
      <p:sp>
        <p:nvSpPr>
          <p:cNvPr id="1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414298D1-E7A5-E014-FE3A-97C7FFBE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1090940"/>
            <a:ext cx="4574939" cy="3185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VV различает состояния</a:t>
            </a:r>
          </a:p>
        </p:txBody>
      </p:sp>
      <p:sp>
        <p:nvSpPr>
          <p:cNvPr id="1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A6B5F328-CF02-2936-7D86-B260ECDC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47D4EC6-6D53-91D3-D06A-DE224036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6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P(VVвлажно &gt; VVсухо)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= 0,824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5131FA9-F518-6555-5B9A-165408B1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7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«Сухо–влажно»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0C7529-75C9-F2DD-4D2F-A85B9CB6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1763590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4601E31-CA91-B1F4-B822-15A808E9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7" y="2290622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28 из 36 полей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ρ &gt; 0,4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EACFE02-6694-E808-2485-7D37CCF2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9" y="1923021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Повторяемость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8" name="Овал 37">
            <a:extLst xmlns:a="http://schemas.openxmlformats.org/drawingml/2006/main">
              <a:ext uri="{FF2B5EF4-FFF2-40B4-BE49-F238E27FC236}">
                <a16:creationId xmlns:a16="http://schemas.microsoft.com/office/drawing/2014/main" id="{561F09B3-AAD6-8997-CB73-AF9BB0BD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21767" y="1626180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224F52B9-E99A-FBC1-5C78-DEEBF4C0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34599" y="1880731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ρ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5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6384B63C-C4AD-051E-C8B0-517C4DEE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D94D19C-F693-5F18-37E7-C30063D7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2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Относительная динамика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подтверждается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929CA29E-9A6F-2C39-7FC2-B1A625A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3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Интерпретация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7" name="Овал 46">
            <a:extLst xmlns:a="http://schemas.openxmlformats.org/drawingml/2006/main">
              <a:ext uri="{FF2B5EF4-FFF2-40B4-BE49-F238E27FC236}">
                <a16:creationId xmlns:a16="http://schemas.microsoft.com/office/drawing/2014/main" id="{5988A6F7-FFE3-B091-C782-468D584B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10636" y="4667535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52BF64D-8786-505D-2290-81F8E144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23468" y="4922086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28/36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7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492E67EB-030F-A540-A005-3F337B23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15BBB136-4EB9-CD8B-C03C-F194FFEB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0" y="3860235"/>
            <a:ext cx="3204516" cy="7223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Это информативность относительной динамики,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а не калибровка абсолютной влажности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4F58E4D-3132-29A2-CF0B-E33FB892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2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Вывод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5" name="Овал 44">
            <a:extLst xmlns:a="http://schemas.openxmlformats.org/drawingml/2006/main">
              <a:ext uri="{FF2B5EF4-FFF2-40B4-BE49-F238E27FC236}">
                <a16:creationId xmlns:a16="http://schemas.microsoft.com/office/drawing/2014/main" id="{1C14481A-470C-94BB-8FF0-0B9EB6D8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8997" y="3376678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6FE0B59A-923D-2FE6-B110-CA165736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51827" y="3623220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Δ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41366603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араллелограмм 13">
            <a:extLst xmlns:a="http://schemas.openxmlformats.org/drawingml/2006/main">
              <a:ext uri="{FF2B5EF4-FFF2-40B4-BE49-F238E27FC236}">
                <a16:creationId xmlns:a16="http://schemas.microsoft.com/office/drawing/2014/main" id="{CFBC5AB2-1024-3A3C-6270-9ABB1655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114800" cy="6891867"/>
          </a:xfrm>
          <a:prstGeom xmlns:a="http://schemas.openxmlformats.org/drawingml/2006/main" prst="parallelogram">
            <a:avLst>
              <a:gd name="adj" fmla="val 0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0874E441-45AC-5068-85C2-E400F27B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7" y="562927"/>
            <a:ext cx="3739663" cy="73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>
                <a:solidFill>
                  <a:schemeClr val="bg1"/>
                </a:solidFill>
              </a:rPr>
              <a:t>Вывод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>
                <a:solidFill>
                  <a:schemeClr val="bg1"/>
                </a:solidFill>
              </a:rPr>
              <a:t>и следующий этап</a:t>
            </a:r>
            <a:endParaRPr sz="240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B43F5CF-DE6A-F746-68E7-12EC0447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7" y="1741224"/>
            <a:ext cx="1927192" cy="25017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6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Модель, ограниченная Sentinel-2, согласована с независимым Sentinel-1 по динамике приповерхностного водного состояния.</a:t>
            </a:r>
          </a:p>
        </p:txBody>
      </p:sp>
      <p:sp>
        <p:nvSpPr>
          <p:cNvPr id="13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9D1B7587-3C4E-6690-5B19-A0CCEFBD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486063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Подтверждено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18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DB4FDA57-61E7-9AB8-B6F4-AC00BB08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7" y="849640"/>
            <a:ext cx="3071425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3C8F5D-2935-CC32-3E45-975153CF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1040036"/>
            <a:ext cx="290437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Совместный учёт влаги и FCOVER улучшает прогноз VV на новых полях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35773324-E961-91D9-7F45-B59259AE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2560037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Не утверждаем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BE7C2838-B525-1256-26AB-C7B13E6D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8" y="2923614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D4E5FE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4D90775D-F015-471E-48B6-2D1862DF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45140" y="3109208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Sentinel-1 не откалиброван здесь как прямое измерение абсолютной влажности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B4F135CF-AE07-3086-A245-1C0030BB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4634011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Следующий шаг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3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11E33661-6CDA-15FC-2FAD-B2A24CDF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7" y="4997588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2C42DCC8-D86B-E156-DE5C-013DDF48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74280" y="5183182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Проверка абсолютной влажности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и профиля до 1 м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BAA19539-2D10-BFE5-6A26-21D43BA7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7" y="849640"/>
            <a:ext cx="3071425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B5011742-03D5-7E9D-B577-5121EA17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48473" y="1040036"/>
            <a:ext cx="290437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Воспроизводимая цепочка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Sentinel-2 → модель → Sentinel-1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6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6E7747-0389-73A8-0B3D-87970DDE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8" y="2923614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D4E5FE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D7DB87B1-7280-168E-1643-4C1D3BE2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07340" y="3109208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Для абсолютной влажности нужны независимые наземные измерения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6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98C47DB0-B0C8-7B3F-5185-C6747CEF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7" y="4997588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06D1BFA0-2CFD-F13A-CD24-2515E92D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36480" y="5183182"/>
            <a:ext cx="2669181" cy="5756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Спасибо за внимание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309146314"/>
      </p:ext>
    </p:extLst>
  </p:cSld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2026-08-31T14:26:44.1630000Z</dcterms:created>
  <dcterms:modified xsi:type="dcterms:W3CDTF">2026-08-31T14:26:44.1630000Z</dcterms:modified>
</coreProperties>
</file>