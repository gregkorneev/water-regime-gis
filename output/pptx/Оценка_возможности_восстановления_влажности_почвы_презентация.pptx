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87bac7714b4661" /><Relationship Type="http://schemas.openxmlformats.org/officeDocument/2006/relationships/extended-properties" Target="/docProps/app.xml" Id="Rca9d27286f44405f" /><Relationship Type="http://schemas.openxmlformats.org/officeDocument/2006/relationships/officeDocument" Target="/ppt/presentation.xml" Id="R3c51a484e250467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993f2b4173446a4"/>
  </p:sldMasterIdLst>
  <p:notesMasterIdLst>
    <p:notesMasterId xmlns:r="http://schemas.openxmlformats.org/officeDocument/2006/relationships" r:id="R58de1241a5d14fb1"/>
  </p:notesMasterIdLst>
  <p:sldIdLst>
    <p:sldId xmlns:r="http://schemas.openxmlformats.org/officeDocument/2006/relationships" id="256" r:id="Rd2389d46c6b24a83"/>
    <p:sldId xmlns:r="http://schemas.openxmlformats.org/officeDocument/2006/relationships" id="257" r:id="R5ca92a703fc241f6"/>
    <p:sldId xmlns:r="http://schemas.openxmlformats.org/officeDocument/2006/relationships" id="258" r:id="R279440d864084e1d"/>
    <p:sldId xmlns:r="http://schemas.openxmlformats.org/officeDocument/2006/relationships" id="259" r:id="R9fd813cd395d4b85"/>
    <p:sldId xmlns:r="http://schemas.openxmlformats.org/officeDocument/2006/relationships" id="260" r:id="R17460c2fb9a84c13"/>
    <p:sldId xmlns:r="http://schemas.openxmlformats.org/officeDocument/2006/relationships" id="261" r:id="Rffa4137226f64e47"/>
    <p:sldId xmlns:r="http://schemas.openxmlformats.org/officeDocument/2006/relationships" id="262" r:id="R9b22e72cfae2411b"/>
  </p:sldIdLst>
  <p:sldSz cx="12192000" cy="6858000"/>
  <p:notesSz cx="6858000" cy="9144000"/>
  <p:embeddedFontLst>
    <p:embeddedFont>
      <p:font typeface="ALS Sector Regular"/>
      <p:regular xmlns:r="http://schemas.openxmlformats.org/officeDocument/2006/relationships" r:id="R87395683528d4107"/>
    </p:embeddedFont>
    <p:embeddedFont>
      <p:font typeface="Calibri"/>
      <p:regular xmlns:r="http://schemas.openxmlformats.org/officeDocument/2006/relationships" r:id="Rf6695abbc3254cab"/>
      <p:bold xmlns:r="http://schemas.openxmlformats.org/officeDocument/2006/relationships" r:id="Re58beaa3e40c4b97"/>
      <p:italic xmlns:r="http://schemas.openxmlformats.org/officeDocument/2006/relationships" r:id="R1deff6129d5043fe"/>
      <p:boldItalic xmlns:r="http://schemas.openxmlformats.org/officeDocument/2006/relationships" r:id="R1cb61a52fe47489a"/>
    </p:embeddedFont>
    <p:embeddedFont>
      <p:font typeface="Calibri Light"/>
      <p:regular xmlns:r="http://schemas.openxmlformats.org/officeDocument/2006/relationships" r:id="Re1c0ccfd92524eb7"/>
      <p:italic xmlns:r="http://schemas.openxmlformats.org/officeDocument/2006/relationships" r:id="R0ddad3bf9132477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792a6876cd4278" /><Relationship Type="http://schemas.openxmlformats.org/officeDocument/2006/relationships/slideMaster" Target="/ppt/slideMasters/slideMaster1.xml" Id="Rc993f2b4173446a4" /><Relationship Type="http://schemas.openxmlformats.org/officeDocument/2006/relationships/notesMaster" Target="/ppt/notesMasters/notesMaster1.xml" Id="R58de1241a5d14fb1" /><Relationship Type="http://schemas.openxmlformats.org/officeDocument/2006/relationships/presProps" Target="/ppt/presProps.xml" Id="Ref91f310a4614135" /><Relationship Type="http://schemas.openxmlformats.org/officeDocument/2006/relationships/viewProps" Target="/ppt/viewProps.xml" Id="Rc80e479bcd1f4623" /><Relationship Type="http://schemas.openxmlformats.org/officeDocument/2006/relationships/tableStyles" Target="/ppt/tableStyles.xml" Id="Rbfee0c8501024e6a" /><Relationship Type="http://schemas.openxmlformats.org/officeDocument/2006/relationships/font" Target="/ppt/fonts/font.dat" Id="R87395683528d4107" /><Relationship Type="http://schemas.openxmlformats.org/officeDocument/2006/relationships/font" Target="/ppt/fonts/font2.dat" Id="Rf6695abbc3254cab" /><Relationship Type="http://schemas.openxmlformats.org/officeDocument/2006/relationships/font" Target="/ppt/fonts/font3.dat" Id="Re58beaa3e40c4b97" /><Relationship Type="http://schemas.openxmlformats.org/officeDocument/2006/relationships/font" Target="/ppt/fonts/font4.dat" Id="R1deff6129d5043fe" /><Relationship Type="http://schemas.openxmlformats.org/officeDocument/2006/relationships/font" Target="/ppt/fonts/font5.dat" Id="R1cb61a52fe47489a" /><Relationship Type="http://schemas.openxmlformats.org/officeDocument/2006/relationships/font" Target="/ppt/fonts/font6.dat" Id="Re1c0ccfd92524eb7" /><Relationship Type="http://schemas.openxmlformats.org/officeDocument/2006/relationships/font" Target="/ppt/fonts/font7.dat" Id="R0ddad3bf91324777" /><Relationship Type="http://schemas.openxmlformats.org/officeDocument/2006/relationships/slide" Target="/ppt/slides/slide1.xml" Id="Rd2389d46c6b24a83" /><Relationship Type="http://schemas.openxmlformats.org/officeDocument/2006/relationships/slide" Target="/ppt/slides/slide2.xml" Id="R5ca92a703fc241f6" /><Relationship Type="http://schemas.openxmlformats.org/officeDocument/2006/relationships/slide" Target="/ppt/slides/slide3.xml" Id="R279440d864084e1d" /><Relationship Type="http://schemas.openxmlformats.org/officeDocument/2006/relationships/slide" Target="/ppt/slides/slide4.xml" Id="R9fd813cd395d4b85" /><Relationship Type="http://schemas.openxmlformats.org/officeDocument/2006/relationships/slide" Target="/ppt/slides/slide5.xml" Id="R17460c2fb9a84c13" /><Relationship Type="http://schemas.openxmlformats.org/officeDocument/2006/relationships/slide" Target="/ppt/slides/slide6.xml" Id="Rffa4137226f64e47" /><Relationship Type="http://schemas.openxmlformats.org/officeDocument/2006/relationships/slide" Target="/ppt/slides/slide7.xml" Id="R9b22e72cfae241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d62906ff6b4b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be83cfce76435c" /><Relationship Type="http://schemas.openxmlformats.org/officeDocument/2006/relationships/notesMaster" Target="/ppt/notesMasters/notesMaster1.xml" Id="Ra6dff3325d824a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2f3d28174e47dc" /><Relationship Type="http://schemas.openxmlformats.org/officeDocument/2006/relationships/notesMaster" Target="/ppt/notesMasters/notesMaster1.xml" Id="Rd0726520376c45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16033c34924ab4" /><Relationship Type="http://schemas.openxmlformats.org/officeDocument/2006/relationships/notesMaster" Target="/ppt/notesMasters/notesMaster1.xml" Id="Rb9e499f3bd2845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33822c520e49b3" /><Relationship Type="http://schemas.openxmlformats.org/officeDocument/2006/relationships/notesMaster" Target="/ppt/notesMasters/notesMaster1.xml" Id="Ree729f0fd60a46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2283c1d6114c17" /><Relationship Type="http://schemas.openxmlformats.org/officeDocument/2006/relationships/notesMaster" Target="/ppt/notesMasters/notesMaster1.xml" Id="R3a08164e38fc4d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310c2b7539a4891" /><Relationship Type="http://schemas.openxmlformats.org/officeDocument/2006/relationships/notesMaster" Target="/ppt/notesMasters/notesMaster1.xml" Id="Rc35602be13a644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aa0054697245e9" /><Relationship Type="http://schemas.openxmlformats.org/officeDocument/2006/relationships/notesMaster" Target="/ppt/notesMasters/notesMaster1.xml" Id="R9f9f019af66341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тезисы: «Оценка возможности восстановления данных о влажности почвы…»,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Открытие: задача — проверить, согласуется ли независимый Sentinel-1 с расчётным приповерхностным водным состоянием.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Финальные тезисы, введение и обсуждение.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Ключевой тезис: мы не выдаём VV за прямое измерение влажности. Проверяем, даёт ли он независимое подтверждение расчётной динамики.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«Материалы и методы»; sp_full_experiment_protocol.json, schema version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Поля разделены на шесть групп. Качество оценивается только на полях, которые не участвовали в обучении.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sp_full_experiment_protocol.json: sentinel2_fcover и kornix_fcover_lag.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Лаг относится к визуальному сопоставлению кривых покрытия: модельная кривая показана на 12 суток правее. Это не изменяет исходные даты в рядах.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sentinel1_validation, cross_validated_predictive_gain.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Главный результат — не абсолютное R², а устойчивый прирост M3 на полях, которые модель не видела. Прирост M3–M1: 0,078, bootstrap 95% CI 0,035…0,128.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observability_analysis.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показатели — дополнительная диагностика. Основное доказательство — межполевая проверка M1–M3 на предыдущем слайде.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заключение.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Закрытие: работа подтверждает необходимую предпосылку дальнейшей реконструкции. Для утверждений об абсолютной влажности и глубине до 1 м потребуются независимые наземные измерения.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01f917f0704f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6bd7ed27c7419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d77ed2be1f4a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bf72b89e1b4e1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025295645b4aa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594e0049841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fb05b3dad54b0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910867598d477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6633914e0c4b5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6b3c06fdbb4bb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013c205ca349f4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9a0fc0c48d4b13" /><Relationship Type="http://schemas.openxmlformats.org/officeDocument/2006/relationships/slideLayout" Target="/ppt/slideLayouts/slideLayout1.xml" Id="R18c34b54998942b0" /><Relationship Type="http://schemas.openxmlformats.org/officeDocument/2006/relationships/slideLayout" Target="/ppt/slideLayouts/slideLayout2.xml" Id="Rd02642570e834d3b" /><Relationship Type="http://schemas.openxmlformats.org/officeDocument/2006/relationships/slideLayout" Target="/ppt/slideLayouts/slideLayout3.xml" Id="R328e856ea47449f9" /><Relationship Type="http://schemas.openxmlformats.org/officeDocument/2006/relationships/slideLayout" Target="/ppt/slideLayouts/slideLayout4.xml" Id="R8c5d6f92ad8f445d" /><Relationship Type="http://schemas.openxmlformats.org/officeDocument/2006/relationships/slideLayout" Target="/ppt/slideLayouts/slideLayout5.xml" Id="Rb83461314f49422b" /><Relationship Type="http://schemas.openxmlformats.org/officeDocument/2006/relationships/slideLayout" Target="/ppt/slideLayouts/slideLayout6.xml" Id="R6dad770d8c4d43ff" /><Relationship Type="http://schemas.openxmlformats.org/officeDocument/2006/relationships/slideLayout" Target="/ppt/slideLayouts/slideLayout7.xml" Id="R68288edf11cc44f0" /><Relationship Type="http://schemas.openxmlformats.org/officeDocument/2006/relationships/slideLayout" Target="/ppt/slideLayouts/slideLayout8.xml" Id="Rb656cc970c494987" /><Relationship Type="http://schemas.openxmlformats.org/officeDocument/2006/relationships/slideLayout" Target="/ppt/slideLayouts/slideLayout9.xml" Id="Rb705d4f1abe44ab5" /><Relationship Type="http://schemas.openxmlformats.org/officeDocument/2006/relationships/slideLayout" Target="/ppt/slideLayouts/slideLayout10.xml" Id="R41c0d5d814ca4b77" /><Relationship Type="http://schemas.openxmlformats.org/officeDocument/2006/relationships/slideLayout" Target="/ppt/slideLayouts/slideLayout11.xml" Id="Rf108dbd8022b492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1440" y="3246437"/>
            <a:ext cx="478536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c34b54998942b0"/>
    <p:sldLayoutId xmlns:r="http://schemas.openxmlformats.org/officeDocument/2006/relationships" id="2147483650" r:id="Rd02642570e834d3b"/>
    <p:sldLayoutId xmlns:r="http://schemas.openxmlformats.org/officeDocument/2006/relationships" id="2147483651" r:id="R328e856ea47449f9"/>
    <p:sldLayoutId xmlns:r="http://schemas.openxmlformats.org/officeDocument/2006/relationships" id="2147483652" r:id="R8c5d6f92ad8f445d"/>
    <p:sldLayoutId xmlns:r="http://schemas.openxmlformats.org/officeDocument/2006/relationships" id="2147483653" r:id="Rb83461314f49422b"/>
    <p:sldLayoutId xmlns:r="http://schemas.openxmlformats.org/officeDocument/2006/relationships" id="2147483654" r:id="R6dad770d8c4d43ff"/>
    <p:sldLayoutId xmlns:r="http://schemas.openxmlformats.org/officeDocument/2006/relationships" id="2147483655" r:id="R68288edf11cc44f0"/>
    <p:sldLayoutId xmlns:r="http://schemas.openxmlformats.org/officeDocument/2006/relationships" id="2147483656" r:id="Rb656cc970c494987"/>
    <p:sldLayoutId xmlns:r="http://schemas.openxmlformats.org/officeDocument/2006/relationships" id="2147483657" r:id="Rb705d4f1abe44ab5"/>
    <p:sldLayoutId xmlns:r="http://schemas.openxmlformats.org/officeDocument/2006/relationships" id="2147483658" r:id="R41c0d5d814ca4b77"/>
    <p:sldLayoutId xmlns:r="http://schemas.openxmlformats.org/officeDocument/2006/relationships" id="2147483659" r:id="Rf108dbd8022b492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d74c70762f48c0" /><Relationship Type="http://schemas.openxmlformats.org/officeDocument/2006/relationships/image" Target="/ppt/media/image.jpeg" Id="R782222e5a2ed4cea" /><Relationship Type="http://schemas.openxmlformats.org/officeDocument/2006/relationships/notesSlide" Target="/ppt/notesSlides/notesSlide1.xml" Id="R53f170c36dbe49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33fc8eee7a4ac8" /><Relationship Type="http://schemas.openxmlformats.org/officeDocument/2006/relationships/notesSlide" Target="/ppt/notesSlides/notesSlide2.xml" Id="R87aaf8c4a9734a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7409c4bad74168" /><Relationship Type="http://schemas.openxmlformats.org/officeDocument/2006/relationships/notesSlide" Target="/ppt/notesSlides/notesSlide3.xml" Id="R10ae8a93e43148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a59be53e67494a" /><Relationship Type="http://schemas.openxmlformats.org/officeDocument/2006/relationships/notesSlide" Target="/ppt/notesSlides/notesSlide4.xml" Id="R0ea2ed7569bf45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f5fcd94eea4734" /><Relationship Type="http://schemas.openxmlformats.org/officeDocument/2006/relationships/chart" Target="/ppt/slides/charts/chart1.xml" Id="Rb0fc6fb1f53640ba" /><Relationship Type="http://schemas.openxmlformats.org/officeDocument/2006/relationships/notesSlide" Target="/ppt/notesSlides/notesSlide5.xml" Id="Rb2780d1cbcab4a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ebfd7dbb374fc3" /><Relationship Type="http://schemas.openxmlformats.org/officeDocument/2006/relationships/notesSlide" Target="/ppt/notesSlides/notesSlide6.xml" Id="Raefbb8ed93c748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12583b22e247db" /><Relationship Type="http://schemas.openxmlformats.org/officeDocument/2006/relationships/notesSlide" Target="/ppt/notesSlides/notesSlide7.xml" Id="R1b9187e17e344ed1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R²out</a:t>
            </a:r>
          </a:p>
        </c:rich>
      </c:tx>
      <c:overlay val="0"/>
    </c:title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 xmlns:a="http://schemas.openxmlformats.org/drawingml/2006/main">
              <a:srgbClr val="2176E5"/>
            </a:solidFill>
            <a:ln xmlns:a="http://schemas.openxmlformats.org/drawingml/2006/main">
              <a:noFill/>
            </a:ln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434343"/>
                    </a:solidFill>
                    <a:latin typeface="ALS Sector Regular"/>
                    <a:ea typeface="ALS Sector Regular"/>
                    <a:cs typeface="ALS Sector Regula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M1</c:v>
                </c:pt>
                <c:pt idx="1">
                  <c:v>M2</c:v>
                </c:pt>
                <c:pt idx="2">
                  <c:v>M3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0.113</c:v>
                </c:pt>
                <c:pt idx="2">
                  <c:v>0.137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D35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231040959"/>
        <c:axId val="230925407"/>
      </c:barChart>
      <c:catAx>
        <c:axId val="23104095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pPr>
          </a:p>
        </c:txPr>
        <c:crossAx val="230925407"/>
        <c:crosses val="autoZero"/>
        <c:lblOffset val="100"/>
      </c:catAx>
      <c:valAx>
        <c:axId val="230925407"/>
        <c:scaling>
          <c:orientation val="minMax"/>
          <c:max val="0.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4F5"/>
              </a:solidFill>
              <a:prstDash val="solid"/>
            </a:ln>
          </c:spPr>
        </c:majorGridlines>
        <c:numFmt formatCode="0.00" sourceLinked="1"/>
        <c:majorTickMark val="out"/>
        <c:minorTickMark val="none"/>
        <c:tickLblPos val="nextTo"/>
        <c:crossAx val="231040959"/>
        <c:crosses val="autoZero"/>
        <c:crossBetween val="between"/>
        <c:majorUnit val="0.04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82222e5a2ed4cea">
            <a:lum/>
          </a:blip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4" y="2863768"/>
            <a:ext cx="11211339" cy="11304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141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Оценка влажности почвы</a:t>
            </a:r>
          </a:p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по модели и данным Sentinel-1/2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6" y="6079140"/>
            <a:ext cx="5316372" cy="40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Clr>
                <a:srgbClr val="176DEA"/>
              </a:buClr>
              <a:buNone/>
            </a:pPr>
            <a:r>
              <a:rPr sz="2000">
                <a:solidFill>
                  <a:schemeClr val="bg1">
                    <a:alpha val="5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2026</a:t>
            </a:r>
          </a:p>
        </p:txBody>
      </p:sp>
      <p:sp>
        <p:nvSpPr>
          <p:cNvPr id="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3" y="378750"/>
            <a:ext cx="11211339" cy="653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МГТУ им. Н.Э. Баумана · кафедра ИУ5</a:t>
            </a:r>
          </a:p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Корнеев Григорий Ильич · ИУ5-34Б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DCF96FA-98E6-E2E9-FEA8-646100B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6944" y="133350"/>
            <a:ext cx="6782401" cy="659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E51AFE0-E498-130B-EF2F-85CF4E00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1527" y="2995630"/>
            <a:ext cx="5390784" cy="8898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Проверяем не калибровку влажности,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а независимую согласованность</a:t>
            </a:r>
          </a:p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>расчётной динамики и радара</a:t>
            </a:r>
          </a:p>
        </p:txBody>
      </p:sp>
      <p:sp>
        <p:nvSpPr>
          <p:cNvPr id="8" name="Параллелограмм 7">
            <a:extLst xmlns:a="http://schemas.openxmlformats.org/drawingml/2006/main"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45122" y="-887968"/>
            <a:ext cx="9386048" cy="81153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05459" y="1032693"/>
            <a:ext cx="4384451" cy="1749826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Проблема и гипотеза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230" y="-2543175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cxnSp>
        <p:nvCxnSpPr>
          <p:cNvPr id="34" name="Google Shape;55;p2"/>
          <p:cNvCxnSpPr/>
          <p:nvPr/>
        </p:nvCxnSpPr>
        <p:spPr>
          <a:xfrm xmlns:a="http://schemas.openxmlformats.org/drawingml/2006/main" rot="0" flipH="0" flipV="0">
            <a:off x="762431" y="3245219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0D2B7FCE-1825-555F-2617-815091C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2979762"/>
            <a:ext cx="2816400" cy="53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VV смешивает два фактора</a:t>
            </a:r>
          </a:p>
        </p:txBody>
      </p:sp>
      <p:cxnSp>
        <p:nvCxnSpPr>
          <p:cNvPr id="36" name="Google Shape;57;p2"/>
          <p:cNvCxnSpPr/>
          <p:nvPr/>
        </p:nvCxnSpPr>
        <p:spPr>
          <a:xfrm xmlns:a="http://schemas.openxmlformats.org/drawingml/2006/main" rot="0" flipH="0" flipV="0">
            <a:off x="762431" y="442944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Google Shape;58;p2">
            <a:extLst xmlns:a="http://schemas.openxmlformats.org/drawingml/2006/main">
              <a:ext uri="{FF2B5EF4-FFF2-40B4-BE49-F238E27FC236}">
                <a16:creationId xmlns:a16="http://schemas.microsoft.com/office/drawing/2014/main" id="{60E977CA-9238-0EE4-5E5E-DD69ED3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4287097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FCOVER выделяет растительность</a:t>
            </a:r>
          </a:p>
        </p:txBody>
      </p:sp>
      <p:cxnSp>
        <p:nvCxnSpPr>
          <p:cNvPr id="38" name="Google Shape;59;p2"/>
          <p:cNvCxnSpPr/>
          <p:nvPr/>
        </p:nvCxnSpPr>
        <p:spPr>
          <a:xfrm xmlns:a="http://schemas.openxmlformats.org/drawingml/2006/main" rot="0" flipH="0" flipV="0">
            <a:off x="755091" y="502155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60;p2">
            <a:extLst xmlns:a="http://schemas.openxmlformats.org/drawingml/2006/main">
              <a:ext uri="{FF2B5EF4-FFF2-40B4-BE49-F238E27FC236}">
                <a16:creationId xmlns:a16="http://schemas.microsoft.com/office/drawing/2014/main" id="{4772CD6F-99B4-268C-5DCF-BFA1F107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4879209"/>
            <a:ext cx="2816400" cy="2846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Гипотеза: VV отражает θ0–10</a:t>
            </a:r>
          </a:p>
        </p:txBody>
      </p:sp>
      <p:cxnSp>
        <p:nvCxnSpPr>
          <p:cNvPr id="40" name="Google Shape;55;p2"/>
          <p:cNvCxnSpPr/>
          <p:nvPr/>
        </p:nvCxnSpPr>
        <p:spPr>
          <a:xfrm xmlns:a="http://schemas.openxmlformats.org/drawingml/2006/main" rot="0" flipH="0" flipV="0">
            <a:off x="755091" y="3837331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E74035EC-4385-4B06-B945-D912BB1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3694985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Прямая влажность недоступна</a:t>
            </a:r>
          </a:p>
        </p:txBody>
      </p:sp>
    </p:spTree>
    <p:extLst>
      <p:ext uri="{BB962C8B-B14F-4D97-AF65-F5344CB8AC3E}">
        <p14:creationId xmlns:p14="http://schemas.microsoft.com/office/powerpoint/2010/main" val="1855870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FB7721B3-9A7B-E718-ACD8-013893BB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Данные и дизайн эксперимента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69C84B-131E-ACC0-F989-95E2794D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738488"/>
            <a:ext cx="2692352" cy="625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36 полей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2 118 совпадений «поле–дата Sentinel-1»</a:t>
            </a:r>
          </a:p>
        </p:txBody>
      </p:sp>
      <p:sp>
        <p:nvSpPr>
          <p:cNvPr id="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FFFB774-4DEE-3FB3-D502-F89B5431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Исходные данные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9800EDF-F699-A274-D060-836790F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FCOVER →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расчёт покрытия модели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4D0ECA-0A72-9D4F-D064-321DF8D8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Растительный блок</a:t>
            </a:r>
          </a:p>
        </p:txBody>
      </p:sp>
      <p:cxnSp>
        <p:nvCxnSpPr>
          <p:cNvPr id="43" name="Google Shape;422;g14739c8fea3_0_168"/>
          <p:cNvCxnSpPr/>
          <p:nvPr/>
        </p:nvCxnSpPr>
        <p:spPr>
          <a:xfrm xmlns:a="http://schemas.openxmlformats.org/drawingml/2006/main" flipV="1">
            <a:off x="8538572" y="1407790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A4346-1888-3C94-0B69-7AF09AB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738488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Суточная модель →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влажность слоя 0–10 см</a:t>
            </a:r>
          </a:p>
        </p:txBody>
      </p:sp>
      <p:sp>
        <p:nvSpPr>
          <p:cNvPr id="21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8F9A23EF-E6AB-D44C-5C29-7E2D100C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Водный блок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82D219-1D16-A9C7-6B34-20A576E1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VV, дБ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6 межполевых фолдов по 6 полей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6D796B6-19A4-DBB2-22E9-A442DC2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Независимая проверка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6732A-0973-49E6-892C-60B3BC1D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7FED8A-5E7D-4926-9C35-02A41279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D67404-564C-443D-A4AB-7C30853B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B32B10A-7513-4692-B0F3-40EE973A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Sentinel-2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FCOVER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48258C-9365-4720-A758-9086C46D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Растительный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блок модели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A6DF90-6898-4C47-B8AD-C2AFD3CB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Расчёт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θ 0–10 см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EA0D0B-D6E4-4071-9107-027C92CD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216FE8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Sentinel-1 VV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независимая проверка</a:t>
            </a:r>
          </a:p>
        </p:txBody>
      </p:sp>
    </p:spTree>
    <p:extLst>
      <p:ext uri="{BB962C8B-B14F-4D97-AF65-F5344CB8AC3E}">
        <p14:creationId xmlns:p14="http://schemas.microsoft.com/office/powerpoint/2010/main" val="3596481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около 12 суток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кривая модели сдвигается вправо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Лаг покрытия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 = 0,763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 = 0,583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Связь рядов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FCOVER ограничивает модель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Проверка выполнена до Sentinel-1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фиксирует сезонную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динамику растительности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Смысл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r = 0,944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34 из 36 связей положительные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Внутри полей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Результат: растение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отделено от влаги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Зачем это нужно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12 сут.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настройка растительного блока,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не проверка влажности по Sentinel-1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Граница интерпретации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FCOVER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0FD12-6A0E-8B85-311F-0F9621A4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55820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M1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FCOVER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2,684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31495578-F3DD-A011-D3D4-C5FD9E1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07823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70AF87-6CD6-3F44-D789-1E32CF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95680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M1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B3CF77-CC33-1C7C-6CCE-4B71AFC2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8824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M2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влага 0–10 см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2,608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94317713-92DE-EC3A-F1FF-1261C6A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0827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3B319D-5473-D7AD-BB49-94846B9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78684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M2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ADDE4D-1C81-2D41-4CF3-B5D8B6D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8926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M3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влага + FCOVER +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взаимодействие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0D6D032B-DF19-EBF3-4F74-DBD573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80929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14A6E9-4E33-FA4D-BA39-BCE029A4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68786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F3296C-CE4E-A878-8B2B-6C428D0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8924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базовый вариант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7" name="Овал 16">
            <a:extLst xmlns:a="http://schemas.openxmlformats.org/drawingml/2006/main">
              <a:ext uri="{FF2B5EF4-FFF2-40B4-BE49-F238E27FC236}">
                <a16:creationId xmlns:a16="http://schemas.microsoft.com/office/drawing/2014/main" id="{768B73E2-18F2-26BB-4667-E998AEC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0927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3B056AA-B5AA-FDB5-2812-051A3AFE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8784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5752A-6D8E-9FD7-D614-9B463421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1928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связь с влагой есть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Овал 20">
            <a:extLst xmlns:a="http://schemas.openxmlformats.org/drawingml/2006/main">
              <a:ext uri="{FF2B5EF4-FFF2-40B4-BE49-F238E27FC236}">
                <a16:creationId xmlns:a16="http://schemas.microsoft.com/office/drawing/2014/main" id="{4B60E7E6-9A5D-0D53-BCA1-241EE21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03931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15193B-D685-DD44-8711-6C14D49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788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80CC8C-FA0E-7411-6400-FA1E482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2030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лучший результат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5" name="Овал 24">
            <a:extLst xmlns:a="http://schemas.openxmlformats.org/drawingml/2006/main">
              <a:ext uri="{FF2B5EF4-FFF2-40B4-BE49-F238E27FC236}">
                <a16:creationId xmlns:a16="http://schemas.microsoft.com/office/drawing/2014/main" id="{0421990D-8A21-2DF4-259A-B2D3FF8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94033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0E3AF4-BFF4-EDB0-9137-03E5DCF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1890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cxnSp>
        <p:nvCxnSpPr>
          <p:cNvPr id="73" name="Google Shape;422;g14739c8fea3_0_168"/>
          <p:cNvCxnSpPr/>
          <p:nvPr/>
        </p:nvCxnSpPr>
        <p:spPr>
          <a:xfrm xmlns:a="http://schemas.openxmlformats.org/drawingml/2006/main" flipV="1">
            <a:off x="4154831" y="1693962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5797E42A-677A-3D4C-A281-ECB6C99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Совместная модель лучше описывает VV на новых полях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B651CE5-447E-0AE2-49C8-CC9FF23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21" y="1822951"/>
            <a:ext cx="6273052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Bef>
                <a:spcPts val="200"/>
              </a:spcBef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Межполевая проверка: R²out</a:t>
            </a:r>
            <a:endParaRPr sz="14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graphicFrame>
        <p:nvGraphicFramePr>
          <p:cNvPr id="76" name="Chart 3"/>
          <p:cNvGraphicFramePr/>
          <p:nvPr/>
        </p:nvGraphicFramePr>
        <p:xfrm>
          <a:off xmlns:a="http://schemas.openxmlformats.org/drawingml/2006/main" x="283921" y="2376280"/>
          <a:ext xmlns:a="http://schemas.openxmlformats.org/drawingml/2006/main" cx="2501666" cy="347899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fc6fb1f53640ba"/>
          </a:graphicData>
        </a:graphic>
      </p:graphicFrame>
    </p:spTree>
    <p:extLst>
      <p:ext uri="{BB962C8B-B14F-4D97-AF65-F5344CB8AC3E}">
        <p14:creationId xmlns:p14="http://schemas.microsoft.com/office/powerpoint/2010/main" val="2671973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Spearman ΔVV–Δθ = 0,195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совпадение направления 57,6 %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Изменения во времени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Spearman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= 0,504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Ранговая связь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Полевые признаки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318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VV различает состояния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P(VVвлажно &gt; VVсухо)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= 0,824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«Сухо–влажно»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28 из 36 полей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&gt; 0,4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Повторяемость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ρ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Относительная динамика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подтверждается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Интерпретация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28/36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информативность относительной динамики,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 не калибровка абсолютной влажности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Вывод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Δ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араллелограмм 13">
            <a:extLst xmlns:a="http://schemas.openxmlformats.org/drawingml/2006/main">
              <a:ext uri="{FF2B5EF4-FFF2-40B4-BE49-F238E27FC236}">
                <a16:creationId xmlns:a16="http://schemas.microsoft.com/office/drawing/2014/main" id="{CFBC5AB2-1024-3A3C-6270-9ABB165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" cy="6891867"/>
          </a:xfrm>
          <a:prstGeom xmlns:a="http://schemas.openxmlformats.org/drawingml/2006/main" prst="parallelogram">
            <a:avLst>
              <a:gd name="adj" fmla="val 0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0874E441-45AC-5068-85C2-E400F27B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562927"/>
            <a:ext cx="3739663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Вывод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и следующий этап</a:t>
            </a:r>
            <a:endParaRPr sz="2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43F5CF-DE6A-F746-68E7-12EC044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1741224"/>
            <a:ext cx="1927192" cy="25017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6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Модель, ограниченная Sentinel-2, согласована с независимым Sentinel-1 по динамике приповерхностного водного состояния.</a:t>
            </a:r>
          </a:p>
        </p:txBody>
      </p:sp>
      <p:sp>
        <p:nvSpPr>
          <p:cNvPr id="13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9D1B7587-3C4E-6690-5B19-A0CCEFB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86063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Подтверждено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18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DB4FDA57-61E7-9AB8-B6F4-AC00BB0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C8F5D-2935-CC32-3E45-975153CF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Совместный учёт влаги и FCOVER улучшает прогноз VV на новых полях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5773324-E961-91D9-7F45-B59259A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2560037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Не утверждаем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E7C2838-B525-1256-26AB-C7B13E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D90775D-F015-471E-48B6-2D1862DF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451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не откалиброван здесь как прямое измерение абсолютной влажности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B4F135CF-AE07-3086-A245-1C0030BB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634011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Следующий шаг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11E33661-6CDA-15FC-2FAD-B2A24CDF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C42DCC8-D86B-E156-DE5C-013DDF4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74280" y="5183182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Проверка абсолютной влажности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и профиля до 1 м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AA19539-2D10-BFE5-6A26-21D43BA7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011742-03D5-7E9D-B577-5121EA1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84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Воспроизводимая цепочка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модель → Sentinel-1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6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6E7747-0389-73A8-0B3D-87970DD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7DB87B1-7280-168E-1643-4C1D3BE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73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Для абсолютной влажности нужны независимые наземные измерения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98C47DB0-B0C8-7B3F-5185-C6747CE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06D1BFA0-2CFD-F13A-CD24-2515E92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36480" y="5183182"/>
            <a:ext cx="2669181" cy="5756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Спасибо за внимание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09146314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2026-08-31T14:12:51.2440000Z</dcterms:created>
  <dcterms:modified xsi:type="dcterms:W3CDTF">2026-08-31T14:12:51.2440000Z</dcterms:modified>
</coreProperties>
</file>